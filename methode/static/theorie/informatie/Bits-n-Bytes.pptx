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FD24FE-DFC1-754B-9823-EE19A6AFB7B3}" v="8" dt="2026-10-14T09:28:54.718"/>
  </p1510:revLst>
</p1510:revInfo>
</file>

<file path=ppt/tableStyles.xml><?xml version="1.0" encoding="utf-8"?>
<a:tblStyleLst xmlns:a="http://schemas.openxmlformats.org/drawingml/2006/main" def="{61CC9BB7-2BCF-4AAB-B05A-B14DADED215B}">
  <a:tblStyle styleId="{61CC9BB7-2BCF-4AAB-B05A-B14DADED215B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CECE7"/>
          </a:solidFill>
        </a:fill>
      </a:tcStyle>
    </a:wholeTbl>
    <a:band1H>
      <a:tcTxStyle/>
      <a:tcStyle>
        <a:tcBdr/>
        <a:fill>
          <a:solidFill>
            <a:srgbClr val="F8D6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8D6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ED7D3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ED7D3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D7D3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ED7D3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7"/>
  </p:normalViewPr>
  <p:slideViewPr>
    <p:cSldViewPr snapToGrid="0">
      <p:cViewPr varScale="1">
        <p:scale>
          <a:sx n="146" d="100"/>
          <a:sy n="146" d="100"/>
        </p:scale>
        <p:origin x="66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9d5d1c5b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9d5d1c5b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605c1f0c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8605c1f0c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99bc890f8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899bc890f8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99bc890f8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99bc890f8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9d5d1c5b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9d5d1c5b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9d5d1c5b9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9d5d1c5b9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9d5d1c5b9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9d5d1c5b9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9d5d1c5b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9d5d1c5b9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9d5d1c5b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9d5d1c5b9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9d5d1c5b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9d5d1c5b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9d5d1c5b9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9d5d1c5b9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9d5d1c5b9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9d5d1c5b9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c7c308bb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c7c308bb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9d5d1c5b9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9d5d1c5b9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9d5d1c5b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9d5d1c5b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9d5d1c5b9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9d5d1c5b9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9d5d1c5b9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9d5d1c5b9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c7c308bb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c7c308bb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9d5d1c5b9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89d5d1c5b9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9d5d1c5b9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89d5d1c5b9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9d5d1c5b9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89d5d1c5b9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9d5d1c5b9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9d5d1c5b9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9d5d1c5b9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89d5d1c5b9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Inhoud T2 Digitale Informatie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 dirty="0"/>
              <a:t>Hoe slaat de computer dingen op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dirty="0"/>
              <a:t>Bits/Bytes/…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dirty="0"/>
              <a:t>Rekenen in verschillende talstelsels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914400" lvl="1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nl" dirty="0"/>
              <a:t>Kleuren en plaatjes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dirty="0"/>
              <a:t>Geluid en Video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dirty="0"/>
              <a:t>Compressie en Bestanden</a:t>
            </a:r>
            <a:endParaRPr dirty="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6413" y="969338"/>
            <a:ext cx="26193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2675" y="3086938"/>
            <a:ext cx="2952750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Bits ‘n Bytes</a:t>
            </a: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Mnr. Segers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338" y="428613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5000" y="2907225"/>
            <a:ext cx="2997524" cy="200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Bit</a:t>
            </a:r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Ja of nee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Waar of niet waar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Schakelaar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Lamp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0 of 1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Bril of geen bril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55534"/>
          <a:stretch/>
        </p:blipFill>
        <p:spPr>
          <a:xfrm>
            <a:off x="5647375" y="1307793"/>
            <a:ext cx="2143125" cy="9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186825" y="3422625"/>
            <a:ext cx="8520600" cy="16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Manier van data opslaan met 2 mogelijke antwoorden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Cel in computer met stroom aan of uit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Soort van cijfer, maar in plaats van 10 opties heb je er twee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Byte</a:t>
            </a:r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Niets anders dan 8 bits naast elkaar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8 bits = 1 byte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Met 8 keer twee opties kan je meer info opslaan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In plaats van 2 opties heb je er nu: 2 * 2 * 2 * 2 * 2 * 2 * 2 * 2 = 2^8 = 256 opties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Bij 8 cijfers naast elkaar heb je nog meer opties: 10 * 10 * 10 * 10 * 10 * 10 * 10 * 10 = 10^8</a:t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3">
            <a:alphaModFix/>
          </a:blip>
          <a:srcRect t="46920" b="1923"/>
          <a:stretch/>
        </p:blipFill>
        <p:spPr>
          <a:xfrm>
            <a:off x="5884900" y="495354"/>
            <a:ext cx="2143125" cy="109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422" y="3530728"/>
            <a:ext cx="3777275" cy="13052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4BE7B325-6320-E357-E7E7-86CBE8A85FF3}"/>
              </a:ext>
            </a:extLst>
          </p:cNvPr>
          <p:cNvSpPr txBox="1"/>
          <p:nvPr/>
        </p:nvSpPr>
        <p:spPr>
          <a:xfrm>
            <a:off x="3866606" y="3837136"/>
            <a:ext cx="44849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/>
              <a:t>Aantal opties </a:t>
            </a:r>
          </a:p>
          <a:p>
            <a:r>
              <a:rPr lang="nl-NL" sz="2000" dirty="0"/>
              <a:t>= (Mogelijkheid van één)^aantal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Hoeveelheden van geheugen</a:t>
            </a:r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6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b staat voor bits en B voor bytes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8b = 1B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256b = 32B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10B = 80b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3013075"/>
            <a:ext cx="8520600" cy="16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 dirty="0"/>
              <a:t>Zoals met meter en kilometer heb je ook kilobit en kilobyte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dirty="0"/>
              <a:t>1Kb = 1000b = 125B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dirty="0"/>
              <a:t>1KB = 1000B =  8000b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Hoeveelheden van geheugen</a:t>
            </a:r>
            <a:endParaRPr/>
          </a:p>
        </p:txBody>
      </p:sp>
      <p:graphicFrame>
        <p:nvGraphicFramePr>
          <p:cNvPr id="100" name="Google Shape;100;p19"/>
          <p:cNvGraphicFramePr/>
          <p:nvPr/>
        </p:nvGraphicFramePr>
        <p:xfrm>
          <a:off x="655720" y="1608812"/>
          <a:ext cx="7832575" cy="2743260"/>
        </p:xfrm>
        <a:graphic>
          <a:graphicData uri="http://schemas.openxmlformats.org/drawingml/2006/table">
            <a:tbl>
              <a:tblPr firstRow="1" bandRow="1">
                <a:noFill/>
                <a:tableStyleId>{61CC9BB7-2BCF-4AAB-B05A-B14DADED215B}</a:tableStyleId>
              </a:tblPr>
              <a:tblGrid>
                <a:gridCol w="577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2400" u="none" strike="noStrike" cap="none"/>
                        <a:t>Hoeveelheid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2400"/>
                        <a:t>Grootheid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2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bits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2400"/>
                        <a:t>1 byte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2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 bytes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2400"/>
                        <a:t>kilobyte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2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1.000.000 bytes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2400"/>
                        <a:t>megabyte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2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1.000.000.000 bytes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2400"/>
                        <a:t>gigabyte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2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1.000.000.000.000 bytes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2400"/>
                        <a:t>terabyte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41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nl"/>
              <a:t>SI-eenheden: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Duidelijk?</a:t>
            </a:r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674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nl"/>
              <a:t>Bit: 0 of 1</a:t>
            </a:r>
            <a:endParaRPr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nl"/>
              <a:t>Zoals cijfer: 0,1,2,3,4,5,6,7,8,9</a:t>
            </a:r>
            <a:endParaRPr/>
          </a:p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nl"/>
              <a:t>Byte: 8 bits naast elkaar</a:t>
            </a:r>
            <a:endParaRPr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nl"/>
              <a:t>Voor meer mogelijkheden </a:t>
            </a:r>
            <a:endParaRPr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nl"/>
              <a:t>2 cijfers =&gt; 100 mogelijkheden (10^2)</a:t>
            </a:r>
            <a:endParaRPr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nl"/>
              <a:t>8 bits =&gt; 256 mogelijkheden (2^8)</a:t>
            </a:r>
            <a:endParaRPr/>
          </a:p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nl"/>
              <a:t>kilobyte: 1.000 bytes, of 8000 bits naast elkaar </a:t>
            </a:r>
            <a:endParaRPr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nl"/>
              <a:t>2^8000 mogelijkheden</a:t>
            </a:r>
            <a:endParaRPr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nl"/>
              <a:t>kilo (K), mega (M), giga (G), tera (T), …</a:t>
            </a:r>
            <a:endParaRPr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nl"/>
              <a:t>Elke keer 3 extra nullen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34328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nl"/>
              <a:t>Kleine b voor bits</a:t>
            </a:r>
            <a:endParaRPr/>
          </a:p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nl"/>
              <a:t>Grote B voor bytes</a:t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 rotWithShape="1">
          <a:blip r:embed="rId3">
            <a:alphaModFix/>
          </a:blip>
          <a:srcRect t="18591" r="62240" b="11095"/>
          <a:stretch/>
        </p:blipFill>
        <p:spPr>
          <a:xfrm>
            <a:off x="6299550" y="713725"/>
            <a:ext cx="2219900" cy="381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Klaar voor verwarring?</a:t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 rotWithShape="1">
          <a:blip r:embed="rId3">
            <a:alphaModFix/>
          </a:blip>
          <a:srcRect t="18974" r="42166" b="41490"/>
          <a:stretch/>
        </p:blipFill>
        <p:spPr>
          <a:xfrm>
            <a:off x="5209275" y="1765225"/>
            <a:ext cx="3580451" cy="225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900" y="1700000"/>
            <a:ext cx="4643600" cy="232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Hoeveelheden van geheugen</a:t>
            </a:r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311700" y="1085550"/>
            <a:ext cx="8520600" cy="13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Probleem: Computers rekenen niet met 10-tallen, maar met 2-tallen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1000 bestaat dus niet maar is 1024 (2^10)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1.000.000 bestaat niet maar is 1.048.576 (2^20)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1.000.000.000 bestaat niet maar is 1.073.741.824 (2^30)</a:t>
            </a:r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1"/>
          </p:nvPr>
        </p:nvSpPr>
        <p:spPr>
          <a:xfrm>
            <a:off x="311700" y="2389650"/>
            <a:ext cx="7973400" cy="15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Daarom hebben we naast de SI eenheden ook de klassieke eenheden: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1 KiB = 1.024B = 8192b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1 MiB = 1.024 KiB = 1.048.576B = 8.388.608b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De letter i duidt aan dat het het klassieke systeem volgt</a:t>
            </a:r>
            <a:endParaRPr/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311700" y="3900650"/>
            <a:ext cx="8520600" cy="10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 dirty="0"/>
              <a:t>Een computer met 500GB heeft dus eigenlijk: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dirty="0"/>
              <a:t>500GB * (10^9 / 2^30) ≈ 465 GiB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dirty="0"/>
              <a:t>500 GB ≈ 465 GiB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Hoeveelheden van geheugen</a:t>
            </a:r>
            <a:endParaRPr/>
          </a:p>
        </p:txBody>
      </p:sp>
      <p:graphicFrame>
        <p:nvGraphicFramePr>
          <p:cNvPr id="129" name="Google Shape;129;p23"/>
          <p:cNvGraphicFramePr/>
          <p:nvPr/>
        </p:nvGraphicFramePr>
        <p:xfrm>
          <a:off x="619220" y="106063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{61CC9BB7-2BCF-4AAB-B05A-B14DADED215B}</a:tableStyleId>
              </a:tblPr>
              <a:tblGrid>
                <a:gridCol w="125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4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600"/>
                        <a:t>Kenmerk</a:t>
                      </a:r>
                      <a:endParaRPr sz="16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600"/>
                        <a:t>SI-eenheden (decimaal)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600"/>
                        <a:t>Klassieke eenheden (binair)</a:t>
                      </a: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600"/>
                        <a:t>Rekenbasis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600"/>
                        <a:t>10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600"/>
                        <a:t>2</a:t>
                      </a: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6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600"/>
                        <a:t>Gebruik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600"/>
                        <a:t>Fabrikanten, Marketing, …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600"/>
                        <a:t>Computers</a:t>
                      </a: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600"/>
                        <a:t>Kilobyte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600"/>
                        <a:t>1.000 bytes (10^3) - 1 KB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600"/>
                        <a:t>1.024 bytes (2^10) - 1KiB</a:t>
                      </a: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600"/>
                        <a:t>Megabyte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600"/>
                        <a:t>1.000.000 bytes (10^6) - 1 MB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600"/>
                        <a:t>1.048.576 bytes (2^20) - 1 MiB</a:t>
                      </a: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600"/>
                        <a:t>Gigabyte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600"/>
                        <a:t>1.000.000.000 bytes (10^9) - 1 GB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600"/>
                        <a:t>1.073.741.824 bytes (2^30) - 1GiB</a:t>
                      </a: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600"/>
                        <a:t>Terabyte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500"/>
                        <a:t>1.000.000.000.000 bytes (10^12) - 1 TB</a:t>
                      </a:r>
                      <a:endParaRPr sz="15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500"/>
                        <a:t>1.099.511.627.776 bytes (2^40) - 1 TiB</a:t>
                      </a:r>
                      <a:endParaRPr sz="15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644975"/>
            <a:ext cx="8991600" cy="385354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4"/>
          <p:cNvSpPr txBox="1"/>
          <p:nvPr/>
        </p:nvSpPr>
        <p:spPr>
          <a:xfrm>
            <a:off x="512625" y="4524300"/>
            <a:ext cx="84963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800">
                <a:solidFill>
                  <a:schemeClr val="dk2"/>
                </a:solidFill>
              </a:rPr>
              <a:t>Reken niet alles uit! Laat berekeningen staan als eindantwoord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Vraag 1:</a:t>
            </a:r>
            <a:endParaRPr/>
          </a:p>
        </p:txBody>
      </p:sp>
      <p:sp>
        <p:nvSpPr>
          <p:cNvPr id="141" name="Google Shape;141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w="2857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nl" sz="7200"/>
              <a:t>Hoeveel bits zitten er in 4 bytes?</a:t>
            </a:r>
            <a:endParaRPr sz="7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Vraag 2:</a:t>
            </a:r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w="2857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nl" sz="7200"/>
              <a:t>Hoeveel bits zitten er in 4 KB?</a:t>
            </a:r>
            <a:endParaRPr sz="7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Vraag 3: </a:t>
            </a:r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w="2857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85000" lnSpcReduction="10000"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nl" sz="7200"/>
              <a:t>Hoeveel verschillende combinaties kan ik maken met 2 bytes?</a:t>
            </a:r>
            <a:endParaRPr sz="7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Vraag 4:</a:t>
            </a:r>
            <a:endParaRPr/>
          </a:p>
        </p:txBody>
      </p:sp>
      <p:sp>
        <p:nvSpPr>
          <p:cNvPr id="159" name="Google Shape;159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w="2857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nl" sz="7200"/>
              <a:t>Een bestand is 8 MB groot, hoeveel Mb is dat?</a:t>
            </a:r>
            <a:endParaRPr sz="7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Vraag 5:</a:t>
            </a:r>
            <a:endParaRPr/>
          </a:p>
        </p:txBody>
      </p:sp>
      <p:sp>
        <p:nvSpPr>
          <p:cNvPr id="165" name="Google Shape;165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w="2857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nl" sz="7200"/>
              <a:t>Hoeveel seconden duurt het om een bestand te sturen van 10MB met een internetsnelheid van 80 Mb/s?</a:t>
            </a:r>
            <a:endParaRPr sz="7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Vraag 6: </a:t>
            </a:r>
            <a:endParaRPr/>
          </a:p>
        </p:txBody>
      </p:sp>
      <p:sp>
        <p:nvSpPr>
          <p:cNvPr id="171" name="Google Shape;171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w="2857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92500"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nl" sz="7200"/>
              <a:t>Hoeveel keer groter is 1GB dan 1MB?</a:t>
            </a:r>
            <a:endParaRPr sz="7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Vraag 7:</a:t>
            </a:r>
            <a:endParaRPr/>
          </a:p>
        </p:txBody>
      </p:sp>
      <p:sp>
        <p:nvSpPr>
          <p:cNvPr id="177" name="Google Shape;177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w="2857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0" algn="ctr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nl" sz="7000"/>
              <a:t>Hoeveel MiB (2^20) is 1MB (10^6)?</a:t>
            </a:r>
            <a:endParaRPr sz="7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Vraag 8:</a:t>
            </a:r>
            <a:endParaRPr/>
          </a:p>
        </p:txBody>
      </p:sp>
      <p:sp>
        <p:nvSpPr>
          <p:cNvPr id="183" name="Google Shape;183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w="2857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nl" sz="7200"/>
              <a:t>Een computer heeft 2TB opslag. Hoeveel TiB is dat?</a:t>
            </a:r>
            <a:endParaRPr sz="7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Vraag 9: </a:t>
            </a:r>
            <a:endParaRPr/>
          </a:p>
        </p:txBody>
      </p:sp>
      <p:sp>
        <p:nvSpPr>
          <p:cNvPr id="189" name="Google Shape;189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w="2857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nl" sz="7200"/>
              <a:t>Een computer heeft 2TB opslag. Hoeveel GiB is dat?</a:t>
            </a:r>
            <a:endParaRPr sz="7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Vraag 10: </a:t>
            </a:r>
            <a:endParaRPr/>
          </a:p>
        </p:txBody>
      </p:sp>
      <p:sp>
        <p:nvSpPr>
          <p:cNvPr id="195" name="Google Shape;195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w="2857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nl" sz="7200"/>
              <a:t>Een computer heeft 2TB opslag. Hoeveel Gib is dat?</a:t>
            </a:r>
            <a:endParaRPr sz="7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6150" y="2676525"/>
            <a:ext cx="1847850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5" title="downloa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6350" y="572050"/>
            <a:ext cx="5504475" cy="369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Antwoorden</a:t>
            </a:r>
            <a:endParaRPr/>
          </a:p>
        </p:txBody>
      </p:sp>
      <p:sp>
        <p:nvSpPr>
          <p:cNvPr id="207" name="Google Shape;207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w="2857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32500" lnSpcReduction="20000"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 sz="5100"/>
              <a:t>1. 4 bytes met 8 bits per byte = 4 * 8 = 32 bits</a:t>
            </a:r>
            <a:endParaRPr sz="51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nl" sz="5100"/>
              <a:t>2. 4 kilobyte * 1000 bytes per kilobyte * 8 bits per byte = 32.000 bits</a:t>
            </a:r>
            <a:endParaRPr sz="51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nl" sz="5100"/>
              <a:t>3. 2 bytes = 16 bits = 2^16 = 256 * 256 = 65536</a:t>
            </a:r>
            <a:endParaRPr sz="51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nl" sz="5100"/>
              <a:t>4. 8 Megabyte * 8 bits per byte = 64Mb</a:t>
            </a:r>
            <a:endParaRPr sz="51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nl" sz="5100"/>
              <a:t>5. 80 Mb = 10MB =&gt; 80 Mb / 80 Mb/s = 1s OF 10 MB / 10 MB/s = 1s</a:t>
            </a:r>
            <a:endParaRPr sz="51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nl" sz="5100"/>
              <a:t>6. 1000x</a:t>
            </a:r>
            <a:endParaRPr sz="51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nl" sz="5100"/>
              <a:t>7. 10^6 / 2^20 = 0,95..</a:t>
            </a:r>
            <a:endParaRPr sz="51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nl" sz="5100"/>
              <a:t>8. 2 * (10^12 / 2^40) </a:t>
            </a:r>
            <a:r>
              <a:rPr lang="nl" sz="5000"/>
              <a:t>≈ 1,82 TiB</a:t>
            </a:r>
            <a:endParaRPr sz="50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nl" sz="5100"/>
              <a:t>9. 2 * (10^12 / 2^30) </a:t>
            </a:r>
            <a:r>
              <a:rPr lang="nl" sz="5000"/>
              <a:t>≈ 1862,65 GiB</a:t>
            </a:r>
            <a:endParaRPr sz="51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nl" sz="5100"/>
              <a:t>10. 2 * (10^12 / 2^30) * 8 </a:t>
            </a:r>
            <a:r>
              <a:rPr lang="nl" sz="5000"/>
              <a:t>≈ 14901,16 Gib</a:t>
            </a:r>
            <a:endParaRPr sz="5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793</Words>
  <Application>Microsoft Macintosh PowerPoint</Application>
  <PresentationFormat>Diavoorstelling (16:9)</PresentationFormat>
  <Paragraphs>132</Paragraphs>
  <Slides>23</Slides>
  <Notes>23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23</vt:i4>
      </vt:variant>
    </vt:vector>
  </HeadingPairs>
  <TitlesOfParts>
    <vt:vector size="26" baseType="lpstr">
      <vt:lpstr>Arial</vt:lpstr>
      <vt:lpstr>Calibri</vt:lpstr>
      <vt:lpstr>Simple Light</vt:lpstr>
      <vt:lpstr>Inhoud T2 Digitale Informatie</vt:lpstr>
      <vt:lpstr>Bits ‘n Bytes</vt:lpstr>
      <vt:lpstr>Bit</vt:lpstr>
      <vt:lpstr>Byte</vt:lpstr>
      <vt:lpstr>Hoeveelheden van geheugen</vt:lpstr>
      <vt:lpstr>Hoeveelheden van geheugen</vt:lpstr>
      <vt:lpstr>Duidelijk?</vt:lpstr>
      <vt:lpstr>Klaar voor verwarring?</vt:lpstr>
      <vt:lpstr>Hoeveelheden van geheugen</vt:lpstr>
      <vt:lpstr>Hoeveelheden van geheugen</vt:lpstr>
      <vt:lpstr>PowerPoint-presentatie</vt:lpstr>
      <vt:lpstr>Vraag 1:</vt:lpstr>
      <vt:lpstr>Vraag 2:</vt:lpstr>
      <vt:lpstr>Vraag 3: </vt:lpstr>
      <vt:lpstr>Vraag 4:</vt:lpstr>
      <vt:lpstr>Vraag 5:</vt:lpstr>
      <vt:lpstr>Vraag 6: </vt:lpstr>
      <vt:lpstr>Vraag 7:</vt:lpstr>
      <vt:lpstr>Vraag 8:</vt:lpstr>
      <vt:lpstr>Vraag 9: </vt:lpstr>
      <vt:lpstr>Vraag 10: </vt:lpstr>
      <vt:lpstr>PowerPoint-presentatie</vt:lpstr>
      <vt:lpstr>Antwoorden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Segers, M.</cp:lastModifiedBy>
  <cp:revision>2</cp:revision>
  <dcterms:modified xsi:type="dcterms:W3CDTF">2026-10-16T08:19:38Z</dcterms:modified>
</cp:coreProperties>
</file>