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6"/>
  </p:normalViewPr>
  <p:slideViewPr>
    <p:cSldViewPr snapToGrid="0">
      <p:cViewPr varScale="1">
        <p:scale>
          <a:sx n="144" d="100"/>
          <a:sy n="144" d="100"/>
        </p:scale>
        <p:origin x="744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b96c8839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b96c8839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b96c88398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b96c88398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b96c88398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b96c88398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b96c88398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b96c88398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b96c88398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b96c88398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b96c88398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b96c88398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b96c88398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b96c88398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b96c88398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b96c88398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b96c88398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b96c88398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b96c88398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b96c88398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b96c88398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b96c88398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b96c88398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b96c88398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b96c88398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b96c88398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b96c88398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ab96c88398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60423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Tekst, geluid, video en compressie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Mnr. Segers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779125"/>
            <a:ext cx="2423950" cy="121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2800" y="3663675"/>
            <a:ext cx="28575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3501" y="3779126"/>
            <a:ext cx="684250" cy="68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33325" y="171438"/>
            <a:ext cx="2466975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Tekst opslaan in de computer: ASCII</a:t>
            </a:r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ASCII model → 7 bits om 128 verschillende tekens te maken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Nadelen: Enkel hoofdletters, letters, cijfers en leestekens + enkel voor Engels, Nederlands, …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Verouderd systeem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 rotWithShape="1">
          <a:blip r:embed="rId3">
            <a:alphaModFix/>
          </a:blip>
          <a:srcRect b="36411"/>
          <a:stretch/>
        </p:blipFill>
        <p:spPr>
          <a:xfrm>
            <a:off x="100575" y="2388899"/>
            <a:ext cx="8814526" cy="2651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Tekst opslaan in de computer: Unicode</a:t>
            </a: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Unicode model: werkt voor heel de wereld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Gigantische lijst voor elk teken (chinees, grieks, wiskunde, emoji’s, …)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Voorbeelden: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nl"/>
              <a:t>U+0041 → hoofdletter A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nl"/>
              <a:t>U+0062 → kleine letter b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nl"/>
              <a:t>U+20AC → euroteken €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nl"/>
              <a:t>U+1F600 → 😀 (grinning face)</a:t>
            </a:r>
            <a:br>
              <a:rPr lang="nl"/>
            </a:b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Enkel een lijst, nog niet naar bits</a:t>
            </a:r>
            <a:br>
              <a:rPr lang="nl"/>
            </a:br>
            <a:r>
              <a:rPr lang="nl"/>
              <a:t>omgezet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 rotWithShape="1">
          <a:blip r:embed="rId3">
            <a:alphaModFix/>
          </a:blip>
          <a:srcRect r="61139" b="59456"/>
          <a:stretch/>
        </p:blipFill>
        <p:spPr>
          <a:xfrm>
            <a:off x="4680450" y="2379275"/>
            <a:ext cx="4151849" cy="23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nl"/>
              <a:t>Tekst opslaan in de computer: UTF-8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Unicode nummers moeten omgevormd worden naar bits (door UTF-8)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Vaak gebruikte tekens krijgen een klein nummer A (=U+0041) → 0100 0001 (één byte)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Minder vaak gebruikte tekens zoals emoji’s zijn 4 bytes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Niet elk teken gebruikt evenveel bits (om gemiddeld genomen zo min mogelijk opslag te hebben)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UTF-8 gebruikt herkenbare patronen: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1 byte: 0xxxxxxx (0 in begin geeft aan dat het teken maar 1 byte is)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2 bytes: 110xxxxx 10xxxxxx (2x 1 in begin geeft aan dat het 2 bytes is)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3 bytes: 1110xxxx 10xxxxxx 10xxxxxx (3x 1 in begin …, elke byte daarna begint met 10)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4 bytes: ?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Compatibel met ASCII (7 bits) → voeg 0 toe aan start om 1 byte te maken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Geluid opslaan in de computer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Computer meet de hoogte van de geluidsgolf op vaste intervallen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Twee variabelen: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Sample rate: hoeveel metingen per seconden (hoeveel verticale lijnen)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nl"/>
              <a:t>Bv. 44.1 KHz = 44.100 metingen per seconden (standaard)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Bitdiepte: Hoe precies de meeting is (hoeveel horizontale lijnen)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nl"/>
              <a:t>Bv. 16-bit = 65.536 verschillende niveaus (standaard)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Voorbeeld: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3 minuten liedje met standaard 44.1KHz en 16-bit diepte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44.100 metingen/s * 16 bits/meting = 705.600 bits/s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705.600 bits/s * 180s = 127.008.000 bits = 15.876.000 bytes</a:t>
            </a:r>
            <a:br>
              <a:rPr lang="nl"/>
            </a:br>
            <a:r>
              <a:rPr lang="nl"/>
              <a:t>= 16 MB	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Bestandsformaten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.WAV: originele grootte en kwaliteit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.MP3: kleiner bestand maar verliest kwaliteit</a:t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1325" y="2262675"/>
            <a:ext cx="2299050" cy="19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Video opslaan in de computer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 dirty="0"/>
              <a:t>Elke video bestaat uit een reeks plaatjes na elkaar + geluid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 dirty="0"/>
              <a:t>Meestal 30/60/90 plaatjes per seconde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 dirty="0"/>
              <a:t>Filmpje van 3 minuten in HD (1280x720px) in RGB aan 60 fps (frames per second)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 dirty="0"/>
              <a:t>HD: 1280x720 px = 921.600 px per frame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 dirty="0"/>
              <a:t>921.600 px per frame * 3 bytes/px = 2.764.800 bytes/frame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 dirty="0"/>
              <a:t>2.764.800 bytes/frame x 60 frames/second x 180 seconden = 29.859.840.000 bytes = 30 GB</a:t>
            </a:r>
            <a:endParaRPr dirty="0"/>
          </a:p>
          <a:p>
            <a:pPr marL="182880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nl" dirty="0"/>
              <a:t>Veelste groot en dat zonder geluid!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45720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nl" dirty="0"/>
              <a:t>Hoe slaan we video’s dan wel op?</a:t>
            </a:r>
            <a:endParaRPr dirty="0"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2800" y="3663675"/>
            <a:ext cx="28575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3501" y="3779126"/>
            <a:ext cx="684250" cy="68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Videobestanden kleiner maken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1"/>
          </p:nvPr>
        </p:nvSpPr>
        <p:spPr>
          <a:xfrm>
            <a:off x="311700" y="1084925"/>
            <a:ext cx="8373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Truc 1: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Sla enkel om de x aantal seconden een volledig plaatje op (I-frame)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Kijk wat er verandert tegenover de opgeslagen frame en sla dat op (P-frame)</a:t>
            </a:r>
            <a:br>
              <a:rPr lang="nl"/>
            </a:br>
            <a:r>
              <a:rPr lang="nl"/>
              <a:t>→ Group of Pictures (GOP): Hoe minder I-frames hoe kleiner de video, maar meer fouten en minder doorspoelmogelijkheid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Bv. Iemand beweegt zijn arm in een video → de arm is 3 pixels omhoog en 2 pixels naar rechts verschoven.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Truc 2: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De frame is opgedeeld in kleine blokjes (bv. 8x8 px), als er niks in het blokje veranderd moet er niks opgeslagen worden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nl"/>
              <a:t>→ Beide trucs bouwen op het feit dat achtergrond vaak hetzelfde blijft</a:t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9800" y="4450201"/>
            <a:ext cx="4924425" cy="78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Compressie</a:t>
            </a:r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Hebben het er al veel over gehad zonder het benoemen: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Bestand kleiner maken = compressie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Voorbeelden: JPG, PNG, WEBP, UTF-8, MP3 en video compressie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Twee soorten: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Lossless: Met slimme trucs haal je info weg zonder kwaliteit te verliezen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Lossy: Met slimme trucs haal je info weg, maar je verliest een beetje kwaliteit</a:t>
            </a:r>
            <a:br>
              <a:rPr lang="nl"/>
            </a:br>
            <a:r>
              <a:rPr lang="nl"/>
              <a:t>→ Lossy compressie maakt het bestand vaakst het kleinst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Voorbeelden: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Lossless: PNG, WEBP (keuze), UTF-8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Lossy: JPG, WEBP (keuze), MP3, video compressie</a:t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6438" y="3686163"/>
            <a:ext cx="3133725" cy="145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Voorbeeld compressie: Huffman encoding (enkel VWO)</a:t>
            </a:r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Lossless compressie die slim gebruik maakt van de frequentie van tekens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Kernidee: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Tel hoe vaak elk teken voorkomt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Geef veel voorkomende tekens een korte binaire code en zeldzame een lange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Zorg dat geen binaire code het begin is van een ander teken om duidelijk te weten waar een teken start (bv. A → 11, B → 011 en C → 0110 is niet goed want 011011 kan AC of BB zijn)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2286000" lvl="0" indent="45720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nl"/>
              <a:t>Maar hoe doen we dat?</a:t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100" y="3224346"/>
            <a:ext cx="1285550" cy="176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1538" y="3275938"/>
            <a:ext cx="2543175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Voorbeeld compressie: Huffman encoding (enkel VWO)</a:t>
            </a:r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Voorbeeld: “ABAACADAB”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Stap 1) Tel frequentie</a:t>
            </a:r>
            <a:endParaRPr/>
          </a:p>
        </p:txBody>
      </p:sp>
      <p:sp>
        <p:nvSpPr>
          <p:cNvPr id="123" name="Google Shape;123;p22"/>
          <p:cNvSpPr/>
          <p:nvPr/>
        </p:nvSpPr>
        <p:spPr>
          <a:xfrm>
            <a:off x="857600" y="4228150"/>
            <a:ext cx="1486500" cy="47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A: 5x</a:t>
            </a:r>
            <a:endParaRPr/>
          </a:p>
        </p:txBody>
      </p:sp>
      <p:sp>
        <p:nvSpPr>
          <p:cNvPr id="124" name="Google Shape;124;p22"/>
          <p:cNvSpPr/>
          <p:nvPr/>
        </p:nvSpPr>
        <p:spPr>
          <a:xfrm>
            <a:off x="3031050" y="4228175"/>
            <a:ext cx="1486500" cy="47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B: 2x</a:t>
            </a:r>
            <a:endParaRPr/>
          </a:p>
        </p:txBody>
      </p:sp>
      <p:sp>
        <p:nvSpPr>
          <p:cNvPr id="125" name="Google Shape;125;p22"/>
          <p:cNvSpPr/>
          <p:nvPr/>
        </p:nvSpPr>
        <p:spPr>
          <a:xfrm>
            <a:off x="5108250" y="4228175"/>
            <a:ext cx="1486500" cy="47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C: 1x</a:t>
            </a:r>
            <a:endParaRPr/>
          </a:p>
        </p:txBody>
      </p:sp>
      <p:sp>
        <p:nvSpPr>
          <p:cNvPr id="126" name="Google Shape;126;p22"/>
          <p:cNvSpPr/>
          <p:nvPr/>
        </p:nvSpPr>
        <p:spPr>
          <a:xfrm>
            <a:off x="7078500" y="4228175"/>
            <a:ext cx="1486500" cy="47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D: 1x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Voorbeeld compressie: Huffman encoding (enkel VWO)</a:t>
            </a:r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Voorbeeld: “ABAACADAB”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Stap 1) Tel frequentie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Stap 2) Voeg kleinste samen</a:t>
            </a:r>
            <a:endParaRPr/>
          </a:p>
        </p:txBody>
      </p:sp>
      <p:sp>
        <p:nvSpPr>
          <p:cNvPr id="133" name="Google Shape;133;p23"/>
          <p:cNvSpPr/>
          <p:nvPr/>
        </p:nvSpPr>
        <p:spPr>
          <a:xfrm>
            <a:off x="857600" y="4228150"/>
            <a:ext cx="1486500" cy="47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A: 5x</a:t>
            </a:r>
            <a:endParaRPr/>
          </a:p>
        </p:txBody>
      </p:sp>
      <p:sp>
        <p:nvSpPr>
          <p:cNvPr id="134" name="Google Shape;134;p23"/>
          <p:cNvSpPr/>
          <p:nvPr/>
        </p:nvSpPr>
        <p:spPr>
          <a:xfrm>
            <a:off x="3031050" y="4228175"/>
            <a:ext cx="1486500" cy="47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B: 2x</a:t>
            </a:r>
            <a:endParaRPr/>
          </a:p>
        </p:txBody>
      </p:sp>
      <p:sp>
        <p:nvSpPr>
          <p:cNvPr id="135" name="Google Shape;135;p23"/>
          <p:cNvSpPr/>
          <p:nvPr/>
        </p:nvSpPr>
        <p:spPr>
          <a:xfrm>
            <a:off x="5108250" y="4228175"/>
            <a:ext cx="1486500" cy="47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C: 1x</a:t>
            </a:r>
            <a:endParaRPr/>
          </a:p>
        </p:txBody>
      </p:sp>
      <p:sp>
        <p:nvSpPr>
          <p:cNvPr id="136" name="Google Shape;136;p23"/>
          <p:cNvSpPr/>
          <p:nvPr/>
        </p:nvSpPr>
        <p:spPr>
          <a:xfrm>
            <a:off x="7078500" y="4228175"/>
            <a:ext cx="1486500" cy="47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D: 1x</a:t>
            </a:r>
            <a:endParaRPr/>
          </a:p>
        </p:txBody>
      </p:sp>
      <p:sp>
        <p:nvSpPr>
          <p:cNvPr id="137" name="Google Shape;137;p23"/>
          <p:cNvSpPr/>
          <p:nvPr/>
        </p:nvSpPr>
        <p:spPr>
          <a:xfrm>
            <a:off x="6201675" y="3386100"/>
            <a:ext cx="1486500" cy="47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CD: 2x</a:t>
            </a:r>
            <a:endParaRPr/>
          </a:p>
        </p:txBody>
      </p:sp>
      <p:cxnSp>
        <p:nvCxnSpPr>
          <p:cNvPr id="138" name="Google Shape;138;p23"/>
          <p:cNvCxnSpPr>
            <a:stCxn id="137" idx="2"/>
            <a:endCxn id="135" idx="0"/>
          </p:cNvCxnSpPr>
          <p:nvPr/>
        </p:nvCxnSpPr>
        <p:spPr>
          <a:xfrm flipH="1">
            <a:off x="5851425" y="3856500"/>
            <a:ext cx="1093500" cy="371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" name="Google Shape;139;p23"/>
          <p:cNvCxnSpPr>
            <a:stCxn id="137" idx="2"/>
            <a:endCxn id="136" idx="0"/>
          </p:cNvCxnSpPr>
          <p:nvPr/>
        </p:nvCxnSpPr>
        <p:spPr>
          <a:xfrm>
            <a:off x="6944925" y="3856500"/>
            <a:ext cx="876900" cy="371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Voorbeeld compressie: Huffman encoding (enkel VWO)</a:t>
            </a:r>
            <a:endParaRPr/>
          </a:p>
        </p:txBody>
      </p:sp>
      <p:sp>
        <p:nvSpPr>
          <p:cNvPr id="145" name="Google Shape;145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Voorbeeld: “ABAACADAB”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Stap 1) Tel frequentie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Stap 2) Voeg kleinste samen (herhaal tot het één geheel is)</a:t>
            </a:r>
            <a:endParaRPr/>
          </a:p>
        </p:txBody>
      </p:sp>
      <p:sp>
        <p:nvSpPr>
          <p:cNvPr id="146" name="Google Shape;146;p24"/>
          <p:cNvSpPr/>
          <p:nvPr/>
        </p:nvSpPr>
        <p:spPr>
          <a:xfrm>
            <a:off x="857600" y="4228150"/>
            <a:ext cx="1486500" cy="47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A: 5x</a:t>
            </a:r>
            <a:endParaRPr/>
          </a:p>
        </p:txBody>
      </p:sp>
      <p:sp>
        <p:nvSpPr>
          <p:cNvPr id="147" name="Google Shape;147;p24"/>
          <p:cNvSpPr/>
          <p:nvPr/>
        </p:nvSpPr>
        <p:spPr>
          <a:xfrm>
            <a:off x="3031050" y="4228175"/>
            <a:ext cx="1486500" cy="47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B: 2x</a:t>
            </a:r>
            <a:endParaRPr/>
          </a:p>
        </p:txBody>
      </p:sp>
      <p:sp>
        <p:nvSpPr>
          <p:cNvPr id="148" name="Google Shape;148;p24"/>
          <p:cNvSpPr/>
          <p:nvPr/>
        </p:nvSpPr>
        <p:spPr>
          <a:xfrm>
            <a:off x="5108250" y="4228175"/>
            <a:ext cx="1486500" cy="47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C: 1x</a:t>
            </a:r>
            <a:endParaRPr/>
          </a:p>
        </p:txBody>
      </p:sp>
      <p:sp>
        <p:nvSpPr>
          <p:cNvPr id="149" name="Google Shape;149;p24"/>
          <p:cNvSpPr/>
          <p:nvPr/>
        </p:nvSpPr>
        <p:spPr>
          <a:xfrm>
            <a:off x="7078500" y="4228175"/>
            <a:ext cx="1486500" cy="47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D: 1x</a:t>
            </a:r>
            <a:endParaRPr/>
          </a:p>
        </p:txBody>
      </p:sp>
      <p:sp>
        <p:nvSpPr>
          <p:cNvPr id="150" name="Google Shape;150;p24"/>
          <p:cNvSpPr/>
          <p:nvPr/>
        </p:nvSpPr>
        <p:spPr>
          <a:xfrm>
            <a:off x="6212350" y="3503675"/>
            <a:ext cx="1486500" cy="47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CD: 2x</a:t>
            </a:r>
            <a:endParaRPr/>
          </a:p>
        </p:txBody>
      </p:sp>
      <p:cxnSp>
        <p:nvCxnSpPr>
          <p:cNvPr id="151" name="Google Shape;151;p24"/>
          <p:cNvCxnSpPr>
            <a:stCxn id="150" idx="2"/>
            <a:endCxn id="148" idx="0"/>
          </p:cNvCxnSpPr>
          <p:nvPr/>
        </p:nvCxnSpPr>
        <p:spPr>
          <a:xfrm flipH="1">
            <a:off x="5851600" y="3974075"/>
            <a:ext cx="1104000" cy="254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" name="Google Shape;152;p24"/>
          <p:cNvCxnSpPr>
            <a:stCxn id="150" idx="2"/>
            <a:endCxn id="149" idx="0"/>
          </p:cNvCxnSpPr>
          <p:nvPr/>
        </p:nvCxnSpPr>
        <p:spPr>
          <a:xfrm>
            <a:off x="6955600" y="3974075"/>
            <a:ext cx="866100" cy="254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3" name="Google Shape;153;p24"/>
          <p:cNvSpPr/>
          <p:nvPr/>
        </p:nvSpPr>
        <p:spPr>
          <a:xfrm>
            <a:off x="4311625" y="2971650"/>
            <a:ext cx="1486500" cy="47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BCD: 4x</a:t>
            </a:r>
            <a:endParaRPr/>
          </a:p>
        </p:txBody>
      </p:sp>
      <p:cxnSp>
        <p:nvCxnSpPr>
          <p:cNvPr id="154" name="Google Shape;154;p24"/>
          <p:cNvCxnSpPr>
            <a:stCxn id="147" idx="0"/>
            <a:endCxn id="153" idx="2"/>
          </p:cNvCxnSpPr>
          <p:nvPr/>
        </p:nvCxnSpPr>
        <p:spPr>
          <a:xfrm rot="10800000" flipH="1">
            <a:off x="3774300" y="3442175"/>
            <a:ext cx="1280700" cy="78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" name="Google Shape;155;p24"/>
          <p:cNvCxnSpPr>
            <a:stCxn id="153" idx="2"/>
            <a:endCxn id="150" idx="0"/>
          </p:cNvCxnSpPr>
          <p:nvPr/>
        </p:nvCxnSpPr>
        <p:spPr>
          <a:xfrm>
            <a:off x="5054875" y="3442050"/>
            <a:ext cx="1900800" cy="6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6" name="Google Shape;156;p24"/>
          <p:cNvSpPr/>
          <p:nvPr/>
        </p:nvSpPr>
        <p:spPr>
          <a:xfrm>
            <a:off x="2517875" y="2336550"/>
            <a:ext cx="1486500" cy="47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ABCD: 9x</a:t>
            </a:r>
            <a:endParaRPr/>
          </a:p>
        </p:txBody>
      </p:sp>
      <p:cxnSp>
        <p:nvCxnSpPr>
          <p:cNvPr id="157" name="Google Shape;157;p24"/>
          <p:cNvCxnSpPr>
            <a:stCxn id="156" idx="2"/>
            <a:endCxn id="153" idx="0"/>
          </p:cNvCxnSpPr>
          <p:nvPr/>
        </p:nvCxnSpPr>
        <p:spPr>
          <a:xfrm>
            <a:off x="3261125" y="2806950"/>
            <a:ext cx="1793700" cy="164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" name="Google Shape;158;p24"/>
          <p:cNvCxnSpPr>
            <a:stCxn id="156" idx="2"/>
            <a:endCxn id="146" idx="0"/>
          </p:cNvCxnSpPr>
          <p:nvPr/>
        </p:nvCxnSpPr>
        <p:spPr>
          <a:xfrm flipH="1">
            <a:off x="1600925" y="2806950"/>
            <a:ext cx="1660200" cy="1421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Voorbeeld compressie: Huffman encoding (enkel VWO)</a:t>
            </a:r>
            <a:endParaRPr/>
          </a:p>
        </p:txBody>
      </p:sp>
      <p:sp>
        <p:nvSpPr>
          <p:cNvPr id="164" name="Google Shape;164;p25"/>
          <p:cNvSpPr txBox="1">
            <a:spLocks noGrp="1"/>
          </p:cNvSpPr>
          <p:nvPr>
            <p:ph type="body" idx="1"/>
          </p:nvPr>
        </p:nvSpPr>
        <p:spPr>
          <a:xfrm>
            <a:off x="311700" y="11310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Voorbeeld: “ABAACADAB”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Stap 1) Tel frequentie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Stap 2) Voeg kleinste samen (herhaal tot het één geheel is)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Stap 3) Links is 0 en Rechts is 1</a:t>
            </a:r>
            <a:endParaRPr/>
          </a:p>
        </p:txBody>
      </p:sp>
      <p:sp>
        <p:nvSpPr>
          <p:cNvPr id="165" name="Google Shape;165;p25"/>
          <p:cNvSpPr/>
          <p:nvPr/>
        </p:nvSpPr>
        <p:spPr>
          <a:xfrm>
            <a:off x="857600" y="4495475"/>
            <a:ext cx="1486500" cy="47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A: 5x</a:t>
            </a:r>
            <a:endParaRPr/>
          </a:p>
        </p:txBody>
      </p:sp>
      <p:sp>
        <p:nvSpPr>
          <p:cNvPr id="166" name="Google Shape;166;p25"/>
          <p:cNvSpPr/>
          <p:nvPr/>
        </p:nvSpPr>
        <p:spPr>
          <a:xfrm>
            <a:off x="3031050" y="4495500"/>
            <a:ext cx="1486500" cy="47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B: 2x</a:t>
            </a:r>
            <a:endParaRPr/>
          </a:p>
        </p:txBody>
      </p:sp>
      <p:sp>
        <p:nvSpPr>
          <p:cNvPr id="167" name="Google Shape;167;p25"/>
          <p:cNvSpPr/>
          <p:nvPr/>
        </p:nvSpPr>
        <p:spPr>
          <a:xfrm>
            <a:off x="5108250" y="4495500"/>
            <a:ext cx="1486500" cy="47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C: 1x</a:t>
            </a:r>
            <a:endParaRPr/>
          </a:p>
        </p:txBody>
      </p:sp>
      <p:sp>
        <p:nvSpPr>
          <p:cNvPr id="168" name="Google Shape;168;p25"/>
          <p:cNvSpPr/>
          <p:nvPr/>
        </p:nvSpPr>
        <p:spPr>
          <a:xfrm>
            <a:off x="7078500" y="4495500"/>
            <a:ext cx="1486500" cy="47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D: 1x</a:t>
            </a:r>
            <a:endParaRPr/>
          </a:p>
        </p:txBody>
      </p:sp>
      <p:sp>
        <p:nvSpPr>
          <p:cNvPr id="169" name="Google Shape;169;p25"/>
          <p:cNvSpPr/>
          <p:nvPr/>
        </p:nvSpPr>
        <p:spPr>
          <a:xfrm>
            <a:off x="6212350" y="3771000"/>
            <a:ext cx="1486500" cy="47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CD: 2x</a:t>
            </a:r>
            <a:endParaRPr/>
          </a:p>
        </p:txBody>
      </p:sp>
      <p:cxnSp>
        <p:nvCxnSpPr>
          <p:cNvPr id="170" name="Google Shape;170;p25"/>
          <p:cNvCxnSpPr>
            <a:stCxn id="169" idx="2"/>
            <a:endCxn id="167" idx="0"/>
          </p:cNvCxnSpPr>
          <p:nvPr/>
        </p:nvCxnSpPr>
        <p:spPr>
          <a:xfrm flipH="1">
            <a:off x="5851600" y="4241400"/>
            <a:ext cx="1104000" cy="254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171;p25"/>
          <p:cNvCxnSpPr>
            <a:stCxn id="169" idx="2"/>
            <a:endCxn id="168" idx="0"/>
          </p:cNvCxnSpPr>
          <p:nvPr/>
        </p:nvCxnSpPr>
        <p:spPr>
          <a:xfrm>
            <a:off x="6955600" y="4241400"/>
            <a:ext cx="866100" cy="254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" name="Google Shape;172;p25"/>
          <p:cNvSpPr/>
          <p:nvPr/>
        </p:nvSpPr>
        <p:spPr>
          <a:xfrm>
            <a:off x="4311625" y="3238975"/>
            <a:ext cx="1486500" cy="47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BCD: 4x</a:t>
            </a:r>
            <a:endParaRPr/>
          </a:p>
        </p:txBody>
      </p:sp>
      <p:cxnSp>
        <p:nvCxnSpPr>
          <p:cNvPr id="173" name="Google Shape;173;p25"/>
          <p:cNvCxnSpPr>
            <a:stCxn id="166" idx="0"/>
            <a:endCxn id="172" idx="2"/>
          </p:cNvCxnSpPr>
          <p:nvPr/>
        </p:nvCxnSpPr>
        <p:spPr>
          <a:xfrm rot="10800000" flipH="1">
            <a:off x="3774300" y="3709500"/>
            <a:ext cx="1280700" cy="78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" name="Google Shape;174;p25"/>
          <p:cNvCxnSpPr>
            <a:stCxn id="172" idx="2"/>
            <a:endCxn id="169" idx="0"/>
          </p:cNvCxnSpPr>
          <p:nvPr/>
        </p:nvCxnSpPr>
        <p:spPr>
          <a:xfrm>
            <a:off x="5054875" y="3709375"/>
            <a:ext cx="1900800" cy="6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" name="Google Shape;175;p25"/>
          <p:cNvSpPr/>
          <p:nvPr/>
        </p:nvSpPr>
        <p:spPr>
          <a:xfrm>
            <a:off x="2517875" y="2655075"/>
            <a:ext cx="1486500" cy="47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ABCD: 9x</a:t>
            </a:r>
            <a:endParaRPr/>
          </a:p>
        </p:txBody>
      </p:sp>
      <p:cxnSp>
        <p:nvCxnSpPr>
          <p:cNvPr id="176" name="Google Shape;176;p25"/>
          <p:cNvCxnSpPr>
            <a:stCxn id="175" idx="2"/>
            <a:endCxn id="172" idx="0"/>
          </p:cNvCxnSpPr>
          <p:nvPr/>
        </p:nvCxnSpPr>
        <p:spPr>
          <a:xfrm>
            <a:off x="3261125" y="3125475"/>
            <a:ext cx="1793700" cy="11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25"/>
          <p:cNvCxnSpPr>
            <a:stCxn id="175" idx="2"/>
            <a:endCxn id="165" idx="0"/>
          </p:cNvCxnSpPr>
          <p:nvPr/>
        </p:nvCxnSpPr>
        <p:spPr>
          <a:xfrm flipH="1">
            <a:off x="1600925" y="3125475"/>
            <a:ext cx="1660200" cy="1370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8" name="Google Shape;17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4675" y="3535625"/>
            <a:ext cx="320350" cy="32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8700" y="3942325"/>
            <a:ext cx="320350" cy="32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5125" y="4118450"/>
            <a:ext cx="320350" cy="32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4475" y="2805125"/>
            <a:ext cx="320350" cy="32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5475" y="3388900"/>
            <a:ext cx="320350" cy="32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1575" y="4118450"/>
            <a:ext cx="320350" cy="32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Voorbeeld compressie: Huffman encoding (enkel VWO)</a:t>
            </a:r>
            <a:endParaRPr/>
          </a:p>
        </p:txBody>
      </p:sp>
      <p:sp>
        <p:nvSpPr>
          <p:cNvPr id="189" name="Google Shape;189;p26"/>
          <p:cNvSpPr txBox="1">
            <a:spLocks noGrp="1"/>
          </p:cNvSpPr>
          <p:nvPr>
            <p:ph type="body" idx="1"/>
          </p:nvPr>
        </p:nvSpPr>
        <p:spPr>
          <a:xfrm>
            <a:off x="311700" y="11310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Voorbeeld: “ABAACADAB”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Stap 1) Tel frequentie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Stap 2) Voeg kleinste samen (herhaal tot het één geheel is)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Stap 3) Links is 0 en Rechts is 1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Stap 4) Elke letter heeft een code: A → 0, B → 10, C → 110 en D → 111 </a:t>
            </a:r>
            <a:endParaRPr/>
          </a:p>
        </p:txBody>
      </p:sp>
      <p:sp>
        <p:nvSpPr>
          <p:cNvPr id="190" name="Google Shape;190;p26"/>
          <p:cNvSpPr/>
          <p:nvPr/>
        </p:nvSpPr>
        <p:spPr>
          <a:xfrm>
            <a:off x="857600" y="4495475"/>
            <a:ext cx="1486500" cy="47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A: 5x</a:t>
            </a:r>
            <a:endParaRPr/>
          </a:p>
        </p:txBody>
      </p:sp>
      <p:sp>
        <p:nvSpPr>
          <p:cNvPr id="191" name="Google Shape;191;p26"/>
          <p:cNvSpPr/>
          <p:nvPr/>
        </p:nvSpPr>
        <p:spPr>
          <a:xfrm>
            <a:off x="3031050" y="4495500"/>
            <a:ext cx="1486500" cy="47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B: 2x</a:t>
            </a:r>
            <a:endParaRPr/>
          </a:p>
        </p:txBody>
      </p:sp>
      <p:sp>
        <p:nvSpPr>
          <p:cNvPr id="192" name="Google Shape;192;p26"/>
          <p:cNvSpPr/>
          <p:nvPr/>
        </p:nvSpPr>
        <p:spPr>
          <a:xfrm>
            <a:off x="5108250" y="4495500"/>
            <a:ext cx="1486500" cy="47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C: 1x</a:t>
            </a:r>
            <a:endParaRPr/>
          </a:p>
        </p:txBody>
      </p:sp>
      <p:sp>
        <p:nvSpPr>
          <p:cNvPr id="193" name="Google Shape;193;p26"/>
          <p:cNvSpPr/>
          <p:nvPr/>
        </p:nvSpPr>
        <p:spPr>
          <a:xfrm>
            <a:off x="7078500" y="4495500"/>
            <a:ext cx="1486500" cy="47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D: 1x</a:t>
            </a:r>
            <a:endParaRPr/>
          </a:p>
        </p:txBody>
      </p:sp>
      <p:sp>
        <p:nvSpPr>
          <p:cNvPr id="194" name="Google Shape;194;p26"/>
          <p:cNvSpPr/>
          <p:nvPr/>
        </p:nvSpPr>
        <p:spPr>
          <a:xfrm>
            <a:off x="6212350" y="3771000"/>
            <a:ext cx="1486500" cy="47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CD: 2x</a:t>
            </a:r>
            <a:endParaRPr/>
          </a:p>
        </p:txBody>
      </p:sp>
      <p:cxnSp>
        <p:nvCxnSpPr>
          <p:cNvPr id="195" name="Google Shape;195;p26"/>
          <p:cNvCxnSpPr>
            <a:stCxn id="194" idx="2"/>
            <a:endCxn id="192" idx="0"/>
          </p:cNvCxnSpPr>
          <p:nvPr/>
        </p:nvCxnSpPr>
        <p:spPr>
          <a:xfrm flipH="1">
            <a:off x="5851600" y="4241400"/>
            <a:ext cx="1104000" cy="254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26"/>
          <p:cNvCxnSpPr>
            <a:stCxn id="194" idx="2"/>
            <a:endCxn id="193" idx="0"/>
          </p:cNvCxnSpPr>
          <p:nvPr/>
        </p:nvCxnSpPr>
        <p:spPr>
          <a:xfrm>
            <a:off x="6955600" y="4241400"/>
            <a:ext cx="866100" cy="254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7" name="Google Shape;197;p26"/>
          <p:cNvSpPr/>
          <p:nvPr/>
        </p:nvSpPr>
        <p:spPr>
          <a:xfrm>
            <a:off x="4311625" y="3238975"/>
            <a:ext cx="1486500" cy="47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BCD: 4x</a:t>
            </a:r>
            <a:endParaRPr/>
          </a:p>
        </p:txBody>
      </p:sp>
      <p:cxnSp>
        <p:nvCxnSpPr>
          <p:cNvPr id="198" name="Google Shape;198;p26"/>
          <p:cNvCxnSpPr>
            <a:stCxn id="191" idx="0"/>
            <a:endCxn id="197" idx="2"/>
          </p:cNvCxnSpPr>
          <p:nvPr/>
        </p:nvCxnSpPr>
        <p:spPr>
          <a:xfrm rot="10800000" flipH="1">
            <a:off x="3774300" y="3709500"/>
            <a:ext cx="1280700" cy="78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9" name="Google Shape;199;p26"/>
          <p:cNvCxnSpPr>
            <a:stCxn id="197" idx="2"/>
            <a:endCxn id="194" idx="0"/>
          </p:cNvCxnSpPr>
          <p:nvPr/>
        </p:nvCxnSpPr>
        <p:spPr>
          <a:xfrm>
            <a:off x="5054875" y="3709375"/>
            <a:ext cx="1900800" cy="6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0" name="Google Shape;200;p26"/>
          <p:cNvSpPr/>
          <p:nvPr/>
        </p:nvSpPr>
        <p:spPr>
          <a:xfrm>
            <a:off x="2275025" y="2946975"/>
            <a:ext cx="1486500" cy="47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ABCD: 9x</a:t>
            </a:r>
            <a:endParaRPr/>
          </a:p>
        </p:txBody>
      </p:sp>
      <p:cxnSp>
        <p:nvCxnSpPr>
          <p:cNvPr id="201" name="Google Shape;201;p26"/>
          <p:cNvCxnSpPr>
            <a:stCxn id="200" idx="2"/>
            <a:endCxn id="197" idx="0"/>
          </p:cNvCxnSpPr>
          <p:nvPr/>
        </p:nvCxnSpPr>
        <p:spPr>
          <a:xfrm rot="10800000" flipH="1">
            <a:off x="3018275" y="3238875"/>
            <a:ext cx="2036700" cy="17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" name="Google Shape;202;p26"/>
          <p:cNvCxnSpPr>
            <a:stCxn id="200" idx="2"/>
            <a:endCxn id="190" idx="0"/>
          </p:cNvCxnSpPr>
          <p:nvPr/>
        </p:nvCxnSpPr>
        <p:spPr>
          <a:xfrm flipH="1">
            <a:off x="1600775" y="3417375"/>
            <a:ext cx="1417500" cy="1078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3" name="Google Shape;20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4675" y="3535625"/>
            <a:ext cx="320350" cy="32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8700" y="3942325"/>
            <a:ext cx="320350" cy="32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5125" y="4118450"/>
            <a:ext cx="320350" cy="32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6400" y="3022000"/>
            <a:ext cx="320350" cy="32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5475" y="3388900"/>
            <a:ext cx="320350" cy="32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1575" y="4118450"/>
            <a:ext cx="320350" cy="32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Voorbeeld compressie: Huffman encoding (enkel VWO)</a:t>
            </a:r>
            <a:endParaRPr/>
          </a:p>
        </p:txBody>
      </p:sp>
      <p:sp>
        <p:nvSpPr>
          <p:cNvPr id="214" name="Google Shape;214;p27"/>
          <p:cNvSpPr txBox="1">
            <a:spLocks noGrp="1"/>
          </p:cNvSpPr>
          <p:nvPr>
            <p:ph type="body" idx="1"/>
          </p:nvPr>
        </p:nvSpPr>
        <p:spPr>
          <a:xfrm>
            <a:off x="311700" y="1131075"/>
            <a:ext cx="8520600" cy="37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Voorbeeld: “ABAACADAB”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Stap 1) Tel frequentie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Stap 2) Voeg kleinste samen (herhaal tot het één geheel is)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Stap 3) Links is 0 en Rechts is 1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Stap 4) Elke letter heeft een code: A → 0, B → 10, C → 110 en D → 111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Stap 5) Vervang elke letter met zijn code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0 10 0 0 110 0 111 0 10 → 010001100111010 (15 bits voor 9 letters)</a:t>
            </a:r>
            <a:br>
              <a:rPr lang="nl"/>
            </a:b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Zonder compressie: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4 verschillende letters = 2 bits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9 letters x 2 bits = 18 bits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1179</Words>
  <Application>Microsoft Macintosh PowerPoint</Application>
  <PresentationFormat>Diavoorstelling (16:9)</PresentationFormat>
  <Paragraphs>140</Paragraphs>
  <Slides>15</Slides>
  <Notes>15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1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15</vt:i4>
      </vt:variant>
    </vt:vector>
  </HeadingPairs>
  <TitlesOfParts>
    <vt:vector size="17" baseType="lpstr">
      <vt:lpstr>Arial</vt:lpstr>
      <vt:lpstr>Simple Light</vt:lpstr>
      <vt:lpstr>Tekst, geluid, video en compressie</vt:lpstr>
      <vt:lpstr>Tekst opslaan in de computer: ASCII</vt:lpstr>
      <vt:lpstr>Tekst opslaan in de computer: Unicode</vt:lpstr>
      <vt:lpstr>Tekst opslaan in de computer: UTF-8 </vt:lpstr>
      <vt:lpstr>Geluid opslaan in de computer </vt:lpstr>
      <vt:lpstr>Video opslaan in de computer </vt:lpstr>
      <vt:lpstr>Videobestanden kleiner maken </vt:lpstr>
      <vt:lpstr>Compressie</vt:lpstr>
      <vt:lpstr>Voorbeeld compressie: Huffman encoding (enkel VWO)</vt:lpstr>
      <vt:lpstr>Voorbeeld compressie: Huffman encoding (enkel VWO)</vt:lpstr>
      <vt:lpstr>Voorbeeld compressie: Huffman encoding (enkel VWO)</vt:lpstr>
      <vt:lpstr>Voorbeeld compressie: Huffman encoding (enkel VWO)</vt:lpstr>
      <vt:lpstr>Voorbeeld compressie: Huffman encoding (enkel VWO)</vt:lpstr>
      <vt:lpstr>Voorbeeld compressie: Huffman encoding (enkel VWO)</vt:lpstr>
      <vt:lpstr>Voorbeeld compressie: Huffman encoding (enkel VWO)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Mike Segers</cp:lastModifiedBy>
  <cp:revision>1</cp:revision>
  <dcterms:modified xsi:type="dcterms:W3CDTF">2026-01-12T08:17:47Z</dcterms:modified>
</cp:coreProperties>
</file>