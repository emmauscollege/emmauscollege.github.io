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embeddedFontLst>
    <p:embeddedFont>
      <p:font typeface="Lato" panose="020F0502020204030203" pitchFamily="34" charset="0"/>
      <p:regular r:id="rId18"/>
      <p:bold r:id="rId19"/>
      <p:italic r:id="rId20"/>
      <p:boldItalic r:id="rId21"/>
    </p:embeddedFont>
    <p:embeddedFont>
      <p:font typeface="Montserrat" pitchFamily="2" charset="77"/>
      <p:regular r:id="rId22"/>
      <p:bold r:id="rId23"/>
      <p:italic r:id="rId24"/>
      <p:boldItalic r:id="rId25"/>
    </p:embeddedFont>
    <p:embeddedFont>
      <p:font typeface="Roboto Mono" pitchFamily="49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141591-349A-7945-B20A-75CD8650174E}" v="8" dt="2026-09-09T11:16:24.850"/>
  </p1510:revLst>
</p1510:revInfo>
</file>

<file path=ppt/tableStyles.xml><?xml version="1.0" encoding="utf-8"?>
<a:tblStyleLst xmlns:a="http://schemas.openxmlformats.org/drawingml/2006/main" def="{0B4A1397-ACAD-4CED-9E2F-AD137A7380A5}">
  <a:tblStyle styleId="{0B4A1397-ACAD-4CED-9E2F-AD137A7380A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8"/>
  </p:normalViewPr>
  <p:slideViewPr>
    <p:cSldViewPr snapToGrid="0">
      <p:cViewPr varScale="1">
        <p:scale>
          <a:sx n="145" d="100"/>
          <a:sy n="145" d="100"/>
        </p:scale>
        <p:origin x="704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9e0f3123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79e0f3123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79e0f31239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79e0f31239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79e0f31239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79e0f31239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79e0f31239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79e0f31239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79e0f31239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79e0f31239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7c87b857b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7c87b857b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79e0f31239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79e0f31239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79e0f31239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79e0f31239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79e0f31239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79e0f31239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79e0f31239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79e0f31239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79e0f31239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79e0f31239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79e0f31239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79e0f31239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7c87b857b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7c87b857b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7a0707536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7a0707536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niversiteitleiden.nl/onderwijs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Uitleg: Basis + HTML tags</a:t>
            </a:r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150575" y="4555300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Mnr. Segers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Eerst de basis: Stappen voor je een website bezoekt</a:t>
            </a:r>
            <a:endParaRPr/>
          </a:p>
        </p:txBody>
      </p:sp>
      <p:pic>
        <p:nvPicPr>
          <p:cNvPr id="141" name="Google Shape;14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2275" y="1703593"/>
            <a:ext cx="2318100" cy="173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3325" y="1760925"/>
            <a:ext cx="1621650" cy="1621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4"/>
          <p:cNvSpPr/>
          <p:nvPr/>
        </p:nvSpPr>
        <p:spPr>
          <a:xfrm>
            <a:off x="2185525" y="2149800"/>
            <a:ext cx="794100" cy="8439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4" name="Google Shape;144;p14"/>
          <p:cNvSpPr/>
          <p:nvPr/>
        </p:nvSpPr>
        <p:spPr>
          <a:xfrm>
            <a:off x="5514238" y="2149800"/>
            <a:ext cx="842400" cy="8439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45" name="Google Shape;145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82900" y="1872343"/>
            <a:ext cx="2489544" cy="1398807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4"/>
          <p:cNvSpPr txBox="1"/>
          <p:nvPr/>
        </p:nvSpPr>
        <p:spPr>
          <a:xfrm>
            <a:off x="2123375" y="2414250"/>
            <a:ext cx="760500" cy="3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Opstarten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7" name="Google Shape;147;p14"/>
          <p:cNvSpPr txBox="1"/>
          <p:nvPr/>
        </p:nvSpPr>
        <p:spPr>
          <a:xfrm>
            <a:off x="5498775" y="2414250"/>
            <a:ext cx="760500" cy="3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Browser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8" name="Google Shape;14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2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Eerst de basis: We zitten bij de browser, wat nu?</a:t>
            </a:r>
            <a:endParaRPr/>
          </a:p>
        </p:txBody>
      </p:sp>
      <p:sp>
        <p:nvSpPr>
          <p:cNvPr id="154" name="Google Shape;154;p15"/>
          <p:cNvSpPr/>
          <p:nvPr/>
        </p:nvSpPr>
        <p:spPr>
          <a:xfrm>
            <a:off x="2095300" y="1531125"/>
            <a:ext cx="794100" cy="8439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55" name="Google Shape;15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2225" y="1460925"/>
            <a:ext cx="914100" cy="91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5"/>
          <p:cNvSpPr txBox="1"/>
          <p:nvPr/>
        </p:nvSpPr>
        <p:spPr>
          <a:xfrm>
            <a:off x="1629975" y="3612700"/>
            <a:ext cx="3977400" cy="3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URL: https://www.w3schools.com/html/pic_trulli.jpg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7" name="Google Shape;157;p15"/>
          <p:cNvSpPr txBox="1"/>
          <p:nvPr/>
        </p:nvSpPr>
        <p:spPr>
          <a:xfrm>
            <a:off x="2095300" y="1795575"/>
            <a:ext cx="760500" cy="3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Opzoeken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8" name="Google Shape;158;p15"/>
          <p:cNvSpPr/>
          <p:nvPr/>
        </p:nvSpPr>
        <p:spPr>
          <a:xfrm rot="5400000">
            <a:off x="4022325" y="2876900"/>
            <a:ext cx="512700" cy="10245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9" name="Google Shape;159;p15"/>
          <p:cNvSpPr txBox="1"/>
          <p:nvPr/>
        </p:nvSpPr>
        <p:spPr>
          <a:xfrm>
            <a:off x="3988713" y="3231650"/>
            <a:ext cx="760500" cy="3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Klikken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0" name="Google Shape;160;p15"/>
          <p:cNvSpPr/>
          <p:nvPr/>
        </p:nvSpPr>
        <p:spPr>
          <a:xfrm>
            <a:off x="5607375" y="3404350"/>
            <a:ext cx="499800" cy="8439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61" name="Google Shape;16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15825" y="3446050"/>
            <a:ext cx="760500" cy="76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5"/>
          <p:cNvSpPr txBox="1"/>
          <p:nvPr/>
        </p:nvSpPr>
        <p:spPr>
          <a:xfrm>
            <a:off x="6246877" y="3132800"/>
            <a:ext cx="698400" cy="2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Server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63" name="Google Shape;16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3425" y="3446050"/>
            <a:ext cx="760500" cy="76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5"/>
          <p:cNvSpPr/>
          <p:nvPr/>
        </p:nvSpPr>
        <p:spPr>
          <a:xfrm>
            <a:off x="7084975" y="3404350"/>
            <a:ext cx="499800" cy="8439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5" name="Google Shape;165;p15"/>
          <p:cNvSpPr txBox="1"/>
          <p:nvPr/>
        </p:nvSpPr>
        <p:spPr>
          <a:xfrm>
            <a:off x="7755527" y="2989850"/>
            <a:ext cx="698400" cy="2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Browser/Client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6" name="Google Shape;166;p15"/>
          <p:cNvSpPr/>
          <p:nvPr/>
        </p:nvSpPr>
        <p:spPr>
          <a:xfrm rot="5400000">
            <a:off x="4121025" y="4001250"/>
            <a:ext cx="315300" cy="8439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67" name="Google Shape;167;p15"/>
          <p:cNvPicPr preferRelativeResize="0"/>
          <p:nvPr/>
        </p:nvPicPr>
        <p:blipFill rotWithShape="1">
          <a:blip r:embed="rId5">
            <a:alphaModFix/>
          </a:blip>
          <a:srcRect b="18207"/>
          <a:stretch/>
        </p:blipFill>
        <p:spPr>
          <a:xfrm>
            <a:off x="2924925" y="1057925"/>
            <a:ext cx="3060099" cy="193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5"/>
          <p:cNvSpPr txBox="1"/>
          <p:nvPr/>
        </p:nvSpPr>
        <p:spPr>
          <a:xfrm>
            <a:off x="1629975" y="4444600"/>
            <a:ext cx="11382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Protocol: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9" name="Google Shape;169;p15"/>
          <p:cNvSpPr txBox="1"/>
          <p:nvPr/>
        </p:nvSpPr>
        <p:spPr>
          <a:xfrm>
            <a:off x="2739000" y="4444600"/>
            <a:ext cx="18315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Server: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0" name="Google Shape;170;p15"/>
          <p:cNvSpPr txBox="1"/>
          <p:nvPr/>
        </p:nvSpPr>
        <p:spPr>
          <a:xfrm>
            <a:off x="4570488" y="4487500"/>
            <a:ext cx="760500" cy="2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Map: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1" name="Google Shape;171;p15"/>
          <p:cNvSpPr txBox="1"/>
          <p:nvPr/>
        </p:nvSpPr>
        <p:spPr>
          <a:xfrm>
            <a:off x="5488950" y="4469650"/>
            <a:ext cx="1138200" cy="3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Bestand: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2" name="Google Shape;172;p15"/>
          <p:cNvSpPr txBox="1"/>
          <p:nvPr/>
        </p:nvSpPr>
        <p:spPr>
          <a:xfrm>
            <a:off x="1629975" y="4661300"/>
            <a:ext cx="794100" cy="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https://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3" name="Google Shape;173;p15"/>
          <p:cNvSpPr txBox="1"/>
          <p:nvPr/>
        </p:nvSpPr>
        <p:spPr>
          <a:xfrm>
            <a:off x="2768175" y="4661300"/>
            <a:ext cx="1802400" cy="3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www.w3schools.com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4" name="Google Shape;174;p15"/>
          <p:cNvSpPr txBox="1"/>
          <p:nvPr/>
        </p:nvSpPr>
        <p:spPr>
          <a:xfrm>
            <a:off x="4570500" y="4688500"/>
            <a:ext cx="698400" cy="3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/html/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5" name="Google Shape;175;p15"/>
          <p:cNvSpPr txBox="1"/>
          <p:nvPr/>
        </p:nvSpPr>
        <p:spPr>
          <a:xfrm>
            <a:off x="5488950" y="4662750"/>
            <a:ext cx="1138200" cy="3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pic_trulli.jpg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6" name="Google Shape;176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3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6"/>
          <p:cNvSpPr txBox="1">
            <a:spLocks noGrp="1"/>
          </p:cNvSpPr>
          <p:nvPr>
            <p:ph type="title"/>
          </p:nvPr>
        </p:nvSpPr>
        <p:spPr>
          <a:xfrm>
            <a:off x="1448500" y="334825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Samenvatting</a:t>
            </a:r>
            <a:endParaRPr/>
          </a:p>
        </p:txBody>
      </p:sp>
      <p:sp>
        <p:nvSpPr>
          <p:cNvPr id="182" name="Google Shape;182;p16"/>
          <p:cNvSpPr/>
          <p:nvPr/>
        </p:nvSpPr>
        <p:spPr>
          <a:xfrm>
            <a:off x="1169739" y="1136450"/>
            <a:ext cx="862200" cy="855300"/>
          </a:xfrm>
          <a:prstGeom prst="rect">
            <a:avLst/>
          </a:prstGeom>
          <a:solidFill>
            <a:srgbClr val="45818E"/>
          </a:solidFill>
          <a:ln w="3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350" tIns="34350" rIns="34350" bIns="343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226">
                <a:latin typeface="Lato"/>
                <a:ea typeface="Lato"/>
                <a:cs typeface="Lato"/>
                <a:sym typeface="Lato"/>
              </a:rPr>
              <a:t>Client</a:t>
            </a:r>
            <a:endParaRPr sz="1226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3" name="Google Shape;183;p16"/>
          <p:cNvSpPr/>
          <p:nvPr/>
        </p:nvSpPr>
        <p:spPr>
          <a:xfrm>
            <a:off x="1454370" y="1708714"/>
            <a:ext cx="540000" cy="240000"/>
          </a:xfrm>
          <a:prstGeom prst="rect">
            <a:avLst/>
          </a:prstGeom>
          <a:solidFill>
            <a:srgbClr val="45818E"/>
          </a:solidFill>
          <a:ln w="5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3550" tIns="53550" rIns="53550" bIns="535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820">
                <a:latin typeface="Lato"/>
                <a:ea typeface="Lato"/>
                <a:cs typeface="Lato"/>
                <a:sym typeface="Lato"/>
              </a:rPr>
              <a:t>Browser</a:t>
            </a:r>
            <a:endParaRPr sz="82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4" name="Google Shape;184;p16"/>
          <p:cNvSpPr/>
          <p:nvPr/>
        </p:nvSpPr>
        <p:spPr>
          <a:xfrm>
            <a:off x="1044799" y="2871132"/>
            <a:ext cx="1112184" cy="679860"/>
          </a:xfrm>
          <a:prstGeom prst="cloud">
            <a:avLst/>
          </a:prstGeom>
          <a:solidFill>
            <a:schemeClr val="lt2"/>
          </a:solidFill>
          <a:ln w="59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7225" tIns="57225" rIns="57225" bIns="572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200">
                <a:latin typeface="Lato"/>
                <a:ea typeface="Lato"/>
                <a:cs typeface="Lato"/>
                <a:sym typeface="Lato"/>
              </a:rPr>
              <a:t>Internet</a:t>
            </a:r>
            <a:endParaRPr sz="12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5" name="Google Shape;185;p16"/>
          <p:cNvSpPr/>
          <p:nvPr/>
        </p:nvSpPr>
        <p:spPr>
          <a:xfrm rot="5400000">
            <a:off x="1475803" y="3852665"/>
            <a:ext cx="497100" cy="276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59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7225" tIns="57225" rIns="57225" bIns="572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77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6" name="Google Shape;186;p16"/>
          <p:cNvSpPr/>
          <p:nvPr/>
        </p:nvSpPr>
        <p:spPr>
          <a:xfrm rot="-5400000">
            <a:off x="1199970" y="3831113"/>
            <a:ext cx="497100" cy="276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59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7225" tIns="57225" rIns="57225" bIns="572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77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7" name="Google Shape;187;p16"/>
          <p:cNvSpPr/>
          <p:nvPr/>
        </p:nvSpPr>
        <p:spPr>
          <a:xfrm>
            <a:off x="1218228" y="4403881"/>
            <a:ext cx="765300" cy="679800"/>
          </a:xfrm>
          <a:prstGeom prst="rect">
            <a:avLst/>
          </a:prstGeom>
          <a:solidFill>
            <a:srgbClr val="45818E"/>
          </a:solidFill>
          <a:ln w="3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350" tIns="34350" rIns="34350" bIns="343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226">
                <a:latin typeface="Lato"/>
                <a:ea typeface="Lato"/>
                <a:cs typeface="Lato"/>
                <a:sym typeface="Lato"/>
              </a:rPr>
              <a:t>Server</a:t>
            </a:r>
            <a:endParaRPr sz="1226"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88" name="Google Shape;188;p16"/>
          <p:cNvGraphicFramePr/>
          <p:nvPr>
            <p:extLst>
              <p:ext uri="{D42A27DB-BD31-4B8C-83A1-F6EECF244321}">
                <p14:modId xmlns:p14="http://schemas.microsoft.com/office/powerpoint/2010/main" val="1349734654"/>
              </p:ext>
            </p:extLst>
          </p:nvPr>
        </p:nvGraphicFramePr>
        <p:xfrm>
          <a:off x="2413600" y="945875"/>
          <a:ext cx="6014600" cy="4068930"/>
        </p:xfrm>
        <a:graphic>
          <a:graphicData uri="http://schemas.openxmlformats.org/drawingml/2006/table">
            <a:tbl>
              <a:tblPr>
                <a:noFill/>
                <a:tableStyleId>{0B4A1397-ACAD-4CED-9E2F-AD137A7380A5}</a:tableStyleId>
              </a:tblPr>
              <a:tblGrid>
                <a:gridCol w="888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50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8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>
                          <a:solidFill>
                            <a:schemeClr val="lt1"/>
                          </a:solidFill>
                        </a:rPr>
                        <a:t>Voorbeeld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>
                          <a:solidFill>
                            <a:schemeClr val="lt1"/>
                          </a:solidFill>
                        </a:rPr>
                        <a:t>Betekenis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>
                          <a:solidFill>
                            <a:schemeClr val="lt1"/>
                          </a:solidFill>
                        </a:rPr>
                        <a:t>Protocol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>
                          <a:solidFill>
                            <a:schemeClr val="lt1"/>
                          </a:solidFill>
                        </a:rPr>
                        <a:t>https://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>
                          <a:solidFill>
                            <a:schemeClr val="lt1"/>
                          </a:solidFill>
                        </a:rPr>
                        <a:t>Vertelt de browser </a:t>
                      </a:r>
                      <a:r>
                        <a:rPr lang="nl" i="1">
                          <a:solidFill>
                            <a:schemeClr val="lt1"/>
                          </a:solidFill>
                        </a:rPr>
                        <a:t>hoe</a:t>
                      </a:r>
                      <a:r>
                        <a:rPr lang="nl">
                          <a:solidFill>
                            <a:schemeClr val="lt1"/>
                          </a:solidFill>
                        </a:rPr>
                        <a:t> er gecommuniceerd moet worden.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lt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>
                          <a:solidFill>
                            <a:schemeClr val="lt1"/>
                          </a:solidFill>
                        </a:rPr>
                        <a:t>http = onveilig, https = versleuteld en veilig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>
                          <a:solidFill>
                            <a:schemeClr val="lt1"/>
                          </a:solidFill>
                        </a:rPr>
                        <a:t>Server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3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www.w3schools.com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>
                          <a:solidFill>
                            <a:schemeClr val="lt1"/>
                          </a:solidFill>
                        </a:rPr>
                        <a:t>Geeft aan welke server de browser moet aanspreken (gelijkaardig aan telefoonnummer)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>
                          <a:solidFill>
                            <a:schemeClr val="lt1"/>
                          </a:solidFill>
                        </a:rPr>
                        <a:t>Map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3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/html/</a:t>
                      </a:r>
                      <a:endParaRPr sz="13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3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(niet verplicht, gaat niet in map)</a:t>
                      </a:r>
                      <a:endParaRPr sz="13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>
                          <a:solidFill>
                            <a:schemeClr val="lt1"/>
                          </a:solidFill>
                        </a:rPr>
                        <a:t>Geeft aan in welke map op de server gezocht moet worden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>
                          <a:solidFill>
                            <a:schemeClr val="lt1"/>
                          </a:solidFill>
                        </a:rPr>
                        <a:t>Bestand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3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pic_trulli.jpg</a:t>
                      </a:r>
                      <a:endParaRPr sz="13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3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(niet verplicht, levert index.html als leeg)</a:t>
                      </a:r>
                      <a:endParaRPr sz="13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dirty="0">
                          <a:solidFill>
                            <a:schemeClr val="lt1"/>
                          </a:solidFill>
                        </a:rPr>
                        <a:t>Daadwerkelijke bestand wordt opgevraagd. Kan plaatje, html, pdf, … zijn</a:t>
                      </a:r>
                      <a:endParaRPr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9" name="Google Shape;189;p16"/>
          <p:cNvSpPr/>
          <p:nvPr/>
        </p:nvSpPr>
        <p:spPr>
          <a:xfrm rot="5400000">
            <a:off x="1613787" y="2293421"/>
            <a:ext cx="497100" cy="276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59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7225" tIns="57225" rIns="57225" bIns="572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77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0" name="Google Shape;190;p16"/>
          <p:cNvSpPr/>
          <p:nvPr/>
        </p:nvSpPr>
        <p:spPr>
          <a:xfrm rot="-5400000">
            <a:off x="1337954" y="2271869"/>
            <a:ext cx="497100" cy="276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59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7225" tIns="57225" rIns="57225" bIns="572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77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1" name="Google Shape;191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Basis HTML</a:t>
            </a:r>
            <a:endParaRPr/>
          </a:p>
        </p:txBody>
      </p:sp>
      <p:sp>
        <p:nvSpPr>
          <p:cNvPr id="197" name="Google Shape;197;p17"/>
          <p:cNvSpPr txBox="1">
            <a:spLocks noGrp="1"/>
          </p:cNvSpPr>
          <p:nvPr>
            <p:ph type="body" idx="1"/>
          </p:nvPr>
        </p:nvSpPr>
        <p:spPr>
          <a:xfrm>
            <a:off x="922925" y="1270950"/>
            <a:ext cx="7038900" cy="120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HyperText Markup Language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nl"/>
              <a:t>Geen programmeertaal =&gt; Geen variabelen, berekeningen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nl"/>
              <a:t>Beschrijvingstaal =&gt; Beschrijft inhoud en structuur van een website</a:t>
            </a:r>
            <a:endParaRPr/>
          </a:p>
        </p:txBody>
      </p:sp>
      <p:sp>
        <p:nvSpPr>
          <p:cNvPr id="198" name="Google Shape;198;p17"/>
          <p:cNvSpPr txBox="1"/>
          <p:nvPr/>
        </p:nvSpPr>
        <p:spPr>
          <a:xfrm>
            <a:off x="6559475" y="539925"/>
            <a:ext cx="2330700" cy="22029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&lt;!</a:t>
            </a:r>
            <a:r>
              <a:rPr lang="nl" sz="13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DOCTYPE</a:t>
            </a:r>
            <a:r>
              <a:rPr lang="nl" sz="1300">
                <a:solidFill>
                  <a:srgbClr val="B392F0"/>
                </a:solidFill>
                <a:latin typeface="Roboto Mono"/>
                <a:ea typeface="Roboto Mono"/>
                <a:cs typeface="Roboto Mono"/>
                <a:sym typeface="Roboto Mono"/>
              </a:rPr>
              <a:t> html</a:t>
            </a:r>
            <a:r>
              <a:rPr lang="nl" sz="13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3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nl" sz="13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html</a:t>
            </a:r>
            <a:r>
              <a:rPr lang="nl" sz="13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3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lang="nl" sz="13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head</a:t>
            </a:r>
            <a:r>
              <a:rPr lang="nl" sz="13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3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endParaRPr sz="13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    &lt;/</a:t>
            </a:r>
            <a:r>
              <a:rPr lang="nl" sz="13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head</a:t>
            </a:r>
            <a:r>
              <a:rPr lang="nl" sz="13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3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lang="nl" sz="13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lang="nl" sz="13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3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endParaRPr sz="13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    &lt;/</a:t>
            </a:r>
            <a:r>
              <a:rPr lang="nl" sz="13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lang="nl" sz="13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3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46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lang="nl" sz="13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html</a:t>
            </a:r>
            <a:r>
              <a:rPr lang="nl" sz="13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9" name="Google Shape;199;p17"/>
          <p:cNvSpPr txBox="1"/>
          <p:nvPr/>
        </p:nvSpPr>
        <p:spPr>
          <a:xfrm>
            <a:off x="959475" y="2386500"/>
            <a:ext cx="5363700" cy="9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n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&lt;h1&gt; Tekst &lt;/h1&gt;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</a:pPr>
            <a:r>
              <a:rPr lang="nl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Open-tag + inhoud + Sluit-tag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137160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</a:pPr>
            <a:r>
              <a:rPr lang="nl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Uitzondering: &lt;br&gt; en &lt;img&gt; hebben geen inhoud en  sluit-tag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</a:pPr>
            <a:r>
              <a:rPr lang="nl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Staat in de body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0" name="Google Shape;200;p17"/>
          <p:cNvSpPr txBox="1"/>
          <p:nvPr/>
        </p:nvSpPr>
        <p:spPr>
          <a:xfrm>
            <a:off x="959475" y="3579200"/>
            <a:ext cx="5041800" cy="13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nl" sz="13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&lt;img src=”...” alt=”...”&gt;</a:t>
            </a:r>
            <a:endParaRPr sz="13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</a:pPr>
            <a:r>
              <a:rPr lang="nl" sz="11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Open-tag (met attribute(n) en value(s))</a:t>
            </a:r>
            <a:endParaRPr sz="11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</a:pPr>
            <a:r>
              <a:rPr lang="nl" sz="11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Attribute: eigenschap van tag (optioneel)</a:t>
            </a:r>
            <a:endParaRPr sz="11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</a:pPr>
            <a:r>
              <a:rPr lang="nl" sz="11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Value: waarde die je de eigenschap geeft (optioneel)</a:t>
            </a:r>
            <a:endParaRPr sz="11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137160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</a:pPr>
            <a:r>
              <a:rPr lang="nl" sz="11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De value staat vaak tussen “ ” als het gaat om tekst</a:t>
            </a:r>
            <a:endParaRPr sz="11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1" name="Google Shape;201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5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HTML als sandwich</a:t>
            </a:r>
            <a:endParaRPr/>
          </a:p>
        </p:txBody>
      </p:sp>
      <p:sp>
        <p:nvSpPr>
          <p:cNvPr id="207" name="Google Shape;207;p18"/>
          <p:cNvSpPr txBox="1"/>
          <p:nvPr/>
        </p:nvSpPr>
        <p:spPr>
          <a:xfrm>
            <a:off x="813775" y="1654500"/>
            <a:ext cx="4461300" cy="28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&lt;!</a:t>
            </a:r>
            <a:r>
              <a:rPr lang="nl" sz="1300" dirty="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DOCTYPE</a:t>
            </a:r>
            <a:r>
              <a:rPr lang="nl" sz="1300" dirty="0">
                <a:solidFill>
                  <a:srgbClr val="B392F0"/>
                </a:solidFill>
                <a:latin typeface="Roboto Mono"/>
                <a:ea typeface="Roboto Mono"/>
                <a:cs typeface="Roboto Mono"/>
                <a:sym typeface="Roboto Mono"/>
              </a:rPr>
              <a:t> html</a:t>
            </a:r>
            <a:r>
              <a:rPr lang="nl" sz="13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300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nl" sz="1300" dirty="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html</a:t>
            </a:r>
            <a:r>
              <a:rPr lang="nl" sz="13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300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  &lt;</a:t>
            </a:r>
            <a:r>
              <a:rPr lang="nl" sz="1300" dirty="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head</a:t>
            </a:r>
            <a:r>
              <a:rPr lang="nl" sz="13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300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lang="nl" sz="1300" dirty="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title</a:t>
            </a:r>
            <a:r>
              <a:rPr lang="nl" sz="13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&gt;Mijn eerste pagina&lt;/</a:t>
            </a:r>
            <a:r>
              <a:rPr lang="nl" sz="1300" dirty="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title</a:t>
            </a:r>
            <a:r>
              <a:rPr lang="nl" sz="13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300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  &lt;/</a:t>
            </a:r>
            <a:r>
              <a:rPr lang="nl" sz="1300" dirty="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head</a:t>
            </a:r>
            <a:r>
              <a:rPr lang="nl" sz="13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300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  &lt;</a:t>
            </a:r>
            <a:r>
              <a:rPr lang="nl" sz="1300" dirty="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lang="nl" sz="13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300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lang="nl" sz="1300" dirty="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h1</a:t>
            </a:r>
            <a:r>
              <a:rPr lang="nl" sz="13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&gt;Dit is een kopje.&lt;/</a:t>
            </a:r>
            <a:r>
              <a:rPr lang="nl" sz="1300" dirty="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h1</a:t>
            </a:r>
            <a:r>
              <a:rPr lang="nl" sz="13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300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lang="nl" sz="1300" dirty="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lang="nl" sz="13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nl-NL" sz="13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Dit is een paragraaf.&lt;/</a:t>
            </a:r>
            <a:r>
              <a:rPr lang="nl-NL" sz="1300" dirty="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lang="nl-NL" sz="13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lang="nl-NL" sz="1300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lang="nl" sz="1300" dirty="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lang="nl" sz="13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300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46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lang="nl" sz="1300" dirty="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html</a:t>
            </a:r>
            <a:r>
              <a:rPr lang="nl" sz="13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3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08" name="Google Shape;20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57200" y="1577412"/>
            <a:ext cx="763400" cy="579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57200" y="4015163"/>
            <a:ext cx="763400" cy="579974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8"/>
          <p:cNvSpPr txBox="1"/>
          <p:nvPr/>
        </p:nvSpPr>
        <p:spPr>
          <a:xfrm>
            <a:off x="5412975" y="1698050"/>
            <a:ext cx="642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&lt;html&gt;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1" name="Google Shape;211;p18"/>
          <p:cNvSpPr txBox="1"/>
          <p:nvPr/>
        </p:nvSpPr>
        <p:spPr>
          <a:xfrm>
            <a:off x="5377700" y="4135788"/>
            <a:ext cx="642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&lt;/html&gt;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12" name="Google Shape;212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36900" y="2161018"/>
            <a:ext cx="481424" cy="365736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8"/>
          <p:cNvSpPr txBox="1"/>
          <p:nvPr/>
        </p:nvSpPr>
        <p:spPr>
          <a:xfrm>
            <a:off x="5712891" y="2228343"/>
            <a:ext cx="405300" cy="2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650" tIns="57650" rIns="57650" bIns="576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63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&lt;head&gt;</a:t>
            </a:r>
            <a:endParaRPr sz="63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14" name="Google Shape;21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80137" y="2161018"/>
            <a:ext cx="481424" cy="365736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8"/>
          <p:cNvSpPr txBox="1"/>
          <p:nvPr/>
        </p:nvSpPr>
        <p:spPr>
          <a:xfrm>
            <a:off x="6556124" y="2228350"/>
            <a:ext cx="481500" cy="2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650" tIns="57650" rIns="57650" bIns="576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63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&lt;/head&gt;</a:t>
            </a:r>
            <a:endParaRPr sz="63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16" name="Google Shape;216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58588" y="2600893"/>
            <a:ext cx="481424" cy="365736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8"/>
          <p:cNvSpPr txBox="1"/>
          <p:nvPr/>
        </p:nvSpPr>
        <p:spPr>
          <a:xfrm>
            <a:off x="5734579" y="2668218"/>
            <a:ext cx="405300" cy="2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650" tIns="57650" rIns="57650" bIns="576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63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&lt;body&gt;</a:t>
            </a:r>
            <a:endParaRPr sz="63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18" name="Google Shape;21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77563" y="3671806"/>
            <a:ext cx="481424" cy="365736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8"/>
          <p:cNvSpPr txBox="1"/>
          <p:nvPr/>
        </p:nvSpPr>
        <p:spPr>
          <a:xfrm>
            <a:off x="5753549" y="3739138"/>
            <a:ext cx="481500" cy="2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650" tIns="57650" rIns="57650" bIns="576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63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&lt;/body&gt;</a:t>
            </a:r>
            <a:endParaRPr sz="63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20" name="Google Shape;220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39400" y="2955931"/>
            <a:ext cx="481424" cy="365736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8"/>
          <p:cNvSpPr txBox="1"/>
          <p:nvPr/>
        </p:nvSpPr>
        <p:spPr>
          <a:xfrm>
            <a:off x="6015391" y="3023256"/>
            <a:ext cx="405300" cy="2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650" tIns="57650" rIns="57650" bIns="576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63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&lt;h1&gt;</a:t>
            </a:r>
            <a:endParaRPr sz="63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22" name="Google Shape;222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80763" y="2947193"/>
            <a:ext cx="481424" cy="365736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8"/>
          <p:cNvSpPr txBox="1"/>
          <p:nvPr/>
        </p:nvSpPr>
        <p:spPr>
          <a:xfrm>
            <a:off x="7256749" y="3014525"/>
            <a:ext cx="481500" cy="2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650" tIns="57650" rIns="57650" bIns="576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63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&lt;/h1&gt;</a:t>
            </a:r>
            <a:endParaRPr sz="63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24" name="Google Shape;22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85325" y="3309506"/>
            <a:ext cx="481424" cy="365736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8"/>
          <p:cNvSpPr txBox="1"/>
          <p:nvPr/>
        </p:nvSpPr>
        <p:spPr>
          <a:xfrm>
            <a:off x="6061316" y="3376831"/>
            <a:ext cx="405300" cy="2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650" tIns="57650" rIns="57650" bIns="576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63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&lt;p&gt;</a:t>
            </a:r>
            <a:endParaRPr sz="63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26" name="Google Shape;226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26688" y="3300768"/>
            <a:ext cx="481424" cy="365736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8"/>
          <p:cNvSpPr txBox="1"/>
          <p:nvPr/>
        </p:nvSpPr>
        <p:spPr>
          <a:xfrm>
            <a:off x="7302674" y="3368100"/>
            <a:ext cx="481500" cy="2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650" tIns="57650" rIns="57650" bIns="576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63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&lt;/p&gt;</a:t>
            </a:r>
            <a:endParaRPr sz="63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28" name="Google Shape;22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49382" y="2194282"/>
            <a:ext cx="299725" cy="29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58952" y="2955438"/>
            <a:ext cx="405300" cy="405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34950" y="3368113"/>
            <a:ext cx="467837" cy="467837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6</a:t>
            </a:fld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HTML in stambomen</a:t>
            </a:r>
            <a:endParaRPr/>
          </a:p>
        </p:txBody>
      </p:sp>
      <p:sp>
        <p:nvSpPr>
          <p:cNvPr id="237" name="Google Shape;237;p19"/>
          <p:cNvSpPr/>
          <p:nvPr/>
        </p:nvSpPr>
        <p:spPr>
          <a:xfrm>
            <a:off x="4228635" y="1791234"/>
            <a:ext cx="826500" cy="429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 w="77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4200" tIns="74200" rIns="74200" bIns="742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46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html</a:t>
            </a:r>
            <a:endParaRPr sz="146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8" name="Google Shape;238;p19"/>
          <p:cNvSpPr/>
          <p:nvPr/>
        </p:nvSpPr>
        <p:spPr>
          <a:xfrm>
            <a:off x="3402000" y="2387531"/>
            <a:ext cx="826500" cy="429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 w="77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4200" tIns="74200" rIns="74200" bIns="742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46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head</a:t>
            </a:r>
            <a:endParaRPr sz="146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9" name="Google Shape;239;p19"/>
          <p:cNvSpPr/>
          <p:nvPr/>
        </p:nvSpPr>
        <p:spPr>
          <a:xfrm>
            <a:off x="4872291" y="2413453"/>
            <a:ext cx="826500" cy="429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 w="77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4200" tIns="74200" rIns="74200" bIns="742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46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body</a:t>
            </a:r>
            <a:endParaRPr sz="146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0" name="Google Shape;240;p19"/>
          <p:cNvSpPr/>
          <p:nvPr/>
        </p:nvSpPr>
        <p:spPr>
          <a:xfrm>
            <a:off x="3402000" y="3035671"/>
            <a:ext cx="826500" cy="429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 w="77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4200" tIns="74200" rIns="74200" bIns="742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46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title</a:t>
            </a:r>
            <a:endParaRPr sz="146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1" name="Google Shape;241;p19"/>
          <p:cNvSpPr/>
          <p:nvPr/>
        </p:nvSpPr>
        <p:spPr>
          <a:xfrm>
            <a:off x="4393760" y="3035671"/>
            <a:ext cx="826500" cy="429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 w="77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4200" tIns="74200" rIns="74200" bIns="742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46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</a:t>
            </a:r>
            <a:endParaRPr sz="146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2" name="Google Shape;242;p19"/>
          <p:cNvSpPr/>
          <p:nvPr/>
        </p:nvSpPr>
        <p:spPr>
          <a:xfrm>
            <a:off x="5385519" y="3035671"/>
            <a:ext cx="826500" cy="429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 w="77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4200" tIns="74200" rIns="74200" bIns="742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46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ol</a:t>
            </a:r>
            <a:endParaRPr sz="146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3" name="Google Shape;243;p19"/>
          <p:cNvSpPr/>
          <p:nvPr/>
        </p:nvSpPr>
        <p:spPr>
          <a:xfrm>
            <a:off x="4818542" y="3747665"/>
            <a:ext cx="826500" cy="429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 w="77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4200" tIns="74200" rIns="74200" bIns="742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46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li</a:t>
            </a:r>
            <a:endParaRPr sz="146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4" name="Google Shape;244;p19"/>
          <p:cNvSpPr/>
          <p:nvPr/>
        </p:nvSpPr>
        <p:spPr>
          <a:xfrm>
            <a:off x="5749065" y="3747665"/>
            <a:ext cx="826500" cy="429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 w="77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4200" tIns="74200" rIns="74200" bIns="742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46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li</a:t>
            </a:r>
            <a:endParaRPr sz="146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45" name="Google Shape;245;p19"/>
          <p:cNvCxnSpPr>
            <a:endCxn id="238" idx="0"/>
          </p:cNvCxnSpPr>
          <p:nvPr/>
        </p:nvCxnSpPr>
        <p:spPr>
          <a:xfrm flipH="1">
            <a:off x="3815250" y="2241131"/>
            <a:ext cx="843600" cy="146400"/>
          </a:xfrm>
          <a:prstGeom prst="straightConnector1">
            <a:avLst/>
          </a:prstGeom>
          <a:noFill/>
          <a:ln w="77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6" name="Google Shape;246;p19"/>
          <p:cNvCxnSpPr>
            <a:stCxn id="237" idx="2"/>
            <a:endCxn id="239" idx="0"/>
          </p:cNvCxnSpPr>
          <p:nvPr/>
        </p:nvCxnSpPr>
        <p:spPr>
          <a:xfrm>
            <a:off x="4641885" y="2220834"/>
            <a:ext cx="643800" cy="192600"/>
          </a:xfrm>
          <a:prstGeom prst="straightConnector1">
            <a:avLst/>
          </a:prstGeom>
          <a:noFill/>
          <a:ln w="77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7" name="Google Shape;247;p19"/>
          <p:cNvCxnSpPr>
            <a:stCxn id="238" idx="2"/>
            <a:endCxn id="240" idx="0"/>
          </p:cNvCxnSpPr>
          <p:nvPr/>
        </p:nvCxnSpPr>
        <p:spPr>
          <a:xfrm>
            <a:off x="3815250" y="2817131"/>
            <a:ext cx="0" cy="218400"/>
          </a:xfrm>
          <a:prstGeom prst="straightConnector1">
            <a:avLst/>
          </a:prstGeom>
          <a:noFill/>
          <a:ln w="77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8" name="Google Shape;248;p19"/>
          <p:cNvCxnSpPr>
            <a:stCxn id="239" idx="2"/>
            <a:endCxn id="241" idx="0"/>
          </p:cNvCxnSpPr>
          <p:nvPr/>
        </p:nvCxnSpPr>
        <p:spPr>
          <a:xfrm flipH="1">
            <a:off x="4807041" y="2843053"/>
            <a:ext cx="478500" cy="192600"/>
          </a:xfrm>
          <a:prstGeom prst="straightConnector1">
            <a:avLst/>
          </a:prstGeom>
          <a:noFill/>
          <a:ln w="77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9" name="Google Shape;249;p19"/>
          <p:cNvCxnSpPr>
            <a:stCxn id="239" idx="2"/>
            <a:endCxn id="242" idx="0"/>
          </p:cNvCxnSpPr>
          <p:nvPr/>
        </p:nvCxnSpPr>
        <p:spPr>
          <a:xfrm>
            <a:off x="5285541" y="2843053"/>
            <a:ext cx="513300" cy="192600"/>
          </a:xfrm>
          <a:prstGeom prst="straightConnector1">
            <a:avLst/>
          </a:prstGeom>
          <a:noFill/>
          <a:ln w="77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0" name="Google Shape;250;p19"/>
          <p:cNvCxnSpPr>
            <a:stCxn id="242" idx="2"/>
            <a:endCxn id="244" idx="0"/>
          </p:cNvCxnSpPr>
          <p:nvPr/>
        </p:nvCxnSpPr>
        <p:spPr>
          <a:xfrm>
            <a:off x="5798769" y="3465271"/>
            <a:ext cx="363600" cy="282300"/>
          </a:xfrm>
          <a:prstGeom prst="straightConnector1">
            <a:avLst/>
          </a:prstGeom>
          <a:noFill/>
          <a:ln w="77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1" name="Google Shape;251;p19"/>
          <p:cNvCxnSpPr>
            <a:stCxn id="242" idx="2"/>
            <a:endCxn id="243" idx="0"/>
          </p:cNvCxnSpPr>
          <p:nvPr/>
        </p:nvCxnSpPr>
        <p:spPr>
          <a:xfrm flipH="1">
            <a:off x="5231769" y="3465271"/>
            <a:ext cx="567000" cy="282300"/>
          </a:xfrm>
          <a:prstGeom prst="straightConnector1">
            <a:avLst/>
          </a:prstGeom>
          <a:noFill/>
          <a:ln w="77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2" name="Google Shape;252;p19"/>
          <p:cNvSpPr txBox="1"/>
          <p:nvPr/>
        </p:nvSpPr>
        <p:spPr>
          <a:xfrm>
            <a:off x="403000" y="1643400"/>
            <a:ext cx="2999100" cy="28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&lt;!</a:t>
            </a:r>
            <a:r>
              <a:rPr lang="nl" sz="12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DOCTYPE</a:t>
            </a:r>
            <a:r>
              <a:rPr lang="nl" sz="1200">
                <a:solidFill>
                  <a:srgbClr val="B392F0"/>
                </a:solidFill>
                <a:latin typeface="Roboto Mono"/>
                <a:ea typeface="Roboto Mono"/>
                <a:cs typeface="Roboto Mono"/>
                <a:sym typeface="Roboto Mono"/>
              </a:rPr>
              <a:t> html</a:t>
            </a: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nl" sz="12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html</a:t>
            </a: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  &lt;</a:t>
            </a:r>
            <a:r>
              <a:rPr lang="nl" sz="12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head</a:t>
            </a: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lang="nl" sz="12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title</a:t>
            </a: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&gt;Mijn pagina&lt;/</a:t>
            </a:r>
            <a:r>
              <a:rPr lang="nl" sz="12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title</a:t>
            </a: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  &lt;/</a:t>
            </a:r>
            <a:r>
              <a:rPr lang="nl" sz="12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head</a:t>
            </a: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  &lt;</a:t>
            </a:r>
            <a:r>
              <a:rPr lang="nl" sz="12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lang="nl" sz="12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&gt;Een paragraaf.&lt;/</a:t>
            </a:r>
            <a:r>
              <a:rPr lang="nl" sz="12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lang="nl" sz="12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ol</a:t>
            </a: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      &lt;</a:t>
            </a:r>
            <a:r>
              <a:rPr lang="nl" sz="12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&gt;Eerste punt&lt;/</a:t>
            </a:r>
            <a:r>
              <a:rPr lang="nl" sz="12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      &lt;</a:t>
            </a:r>
            <a:r>
              <a:rPr lang="nl" sz="12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&gt;Tweede punt&lt;/</a:t>
            </a:r>
            <a:r>
              <a:rPr lang="nl" sz="12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    &lt;/</a:t>
            </a:r>
            <a:r>
              <a:rPr lang="nl" sz="12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ol</a:t>
            </a: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  &lt;/</a:t>
            </a:r>
            <a:r>
              <a:rPr lang="nl" sz="12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46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lang="nl" sz="12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html</a:t>
            </a: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3" name="Google Shape;253;p19"/>
          <p:cNvSpPr txBox="1"/>
          <p:nvPr/>
        </p:nvSpPr>
        <p:spPr>
          <a:xfrm>
            <a:off x="6679600" y="1711625"/>
            <a:ext cx="2292900" cy="28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Parent:</a:t>
            </a:r>
            <a:r>
              <a:rPr lang="n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Een parent heeft één of meerdere andere elementen (</a:t>
            </a:r>
            <a:r>
              <a:rPr lang="nl" sz="13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= Children</a:t>
            </a:r>
            <a:r>
              <a:rPr lang="n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Siblings: </a:t>
            </a:r>
            <a:r>
              <a:rPr lang="n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Children van dezelfde parent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Nesting: </a:t>
            </a:r>
            <a:r>
              <a:rPr lang="n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Een child kan weer een parent zijn van een ander element, enzovoort 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4" name="Google Shape;254;p19"/>
          <p:cNvSpPr txBox="1"/>
          <p:nvPr/>
        </p:nvSpPr>
        <p:spPr>
          <a:xfrm>
            <a:off x="548075" y="4570850"/>
            <a:ext cx="6842700" cy="3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Wat zijn voorbeelden van parent, siblings en nesting in deze stamboom?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5" name="Google Shape;255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7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Oefeningen Stambomen</a:t>
            </a:r>
            <a:endParaRPr/>
          </a:p>
        </p:txBody>
      </p:sp>
      <p:sp>
        <p:nvSpPr>
          <p:cNvPr id="261" name="Google Shape;261;p20"/>
          <p:cNvSpPr txBox="1"/>
          <p:nvPr/>
        </p:nvSpPr>
        <p:spPr>
          <a:xfrm>
            <a:off x="1172125" y="1830600"/>
            <a:ext cx="3620100" cy="28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&lt;!</a:t>
            </a:r>
            <a:r>
              <a:rPr lang="nl" sz="13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DOCTYPE</a:t>
            </a:r>
            <a:r>
              <a:rPr lang="nl" sz="1300">
                <a:solidFill>
                  <a:srgbClr val="B392F0"/>
                </a:solidFill>
                <a:latin typeface="Roboto Mono"/>
                <a:ea typeface="Roboto Mono"/>
                <a:cs typeface="Roboto Mono"/>
                <a:sym typeface="Roboto Mono"/>
              </a:rPr>
              <a:t> html</a:t>
            </a:r>
            <a:r>
              <a:rPr lang="nl" sz="13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3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nl" sz="13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html</a:t>
            </a:r>
            <a:r>
              <a:rPr lang="nl" sz="13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3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  &lt;</a:t>
            </a:r>
            <a:r>
              <a:rPr lang="nl" sz="13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head</a:t>
            </a:r>
            <a:r>
              <a:rPr lang="nl" sz="13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3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lang="nl" sz="13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title</a:t>
            </a:r>
            <a:r>
              <a:rPr lang="nl" sz="13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&gt;Over mij&lt;/</a:t>
            </a:r>
            <a:r>
              <a:rPr lang="nl" sz="13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title</a:t>
            </a:r>
            <a:r>
              <a:rPr lang="nl" sz="13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3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  &lt;/</a:t>
            </a:r>
            <a:r>
              <a:rPr lang="nl" sz="13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head</a:t>
            </a:r>
            <a:r>
              <a:rPr lang="nl" sz="13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3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  &lt;</a:t>
            </a:r>
            <a:r>
              <a:rPr lang="nl" sz="13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lang="nl" sz="13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3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lang="nl" sz="13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h2</a:t>
            </a:r>
            <a:r>
              <a:rPr lang="nl" sz="13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&gt;Wie ben ik?&lt;/</a:t>
            </a:r>
            <a:r>
              <a:rPr lang="nl" sz="13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h2</a:t>
            </a:r>
            <a:r>
              <a:rPr lang="nl" sz="13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3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lang="nl" sz="13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lang="nl" sz="13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&gt;Dit is HTML.&lt;/</a:t>
            </a:r>
            <a:r>
              <a:rPr lang="nl" sz="13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lang="nl" sz="13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3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  &lt;/</a:t>
            </a:r>
            <a:r>
              <a:rPr lang="nl" sz="13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lang="nl" sz="13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3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lang="nl" sz="13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html</a:t>
            </a:r>
            <a:r>
              <a:rPr lang="nl" sz="13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2" name="Google Shape;262;p20"/>
          <p:cNvSpPr txBox="1">
            <a:spLocks noGrp="1"/>
          </p:cNvSpPr>
          <p:nvPr>
            <p:ph type="title"/>
          </p:nvPr>
        </p:nvSpPr>
        <p:spPr>
          <a:xfrm>
            <a:off x="1172125" y="1214100"/>
            <a:ext cx="1901400" cy="6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Oefening 1</a:t>
            </a:r>
            <a:endParaRPr/>
          </a:p>
        </p:txBody>
      </p:sp>
      <p:sp>
        <p:nvSpPr>
          <p:cNvPr id="263" name="Google Shape;263;p20"/>
          <p:cNvSpPr txBox="1"/>
          <p:nvPr/>
        </p:nvSpPr>
        <p:spPr>
          <a:xfrm>
            <a:off x="4792200" y="1888675"/>
            <a:ext cx="3544200" cy="28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&lt;!</a:t>
            </a:r>
            <a:r>
              <a:rPr lang="nl" sz="12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DOCTYPE</a:t>
            </a:r>
            <a:r>
              <a:rPr lang="nl" sz="1200">
                <a:solidFill>
                  <a:srgbClr val="B392F0"/>
                </a:solidFill>
                <a:latin typeface="Roboto Mono"/>
                <a:ea typeface="Roboto Mono"/>
                <a:cs typeface="Roboto Mono"/>
                <a:sym typeface="Roboto Mono"/>
              </a:rPr>
              <a:t> html</a:t>
            </a: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 &lt;</a:t>
            </a:r>
            <a:r>
              <a:rPr lang="nl" sz="12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html</a:t>
            </a: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&gt;&lt;</a:t>
            </a:r>
            <a:r>
              <a:rPr lang="nl" sz="12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head</a:t>
            </a: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&gt;&lt;</a:t>
            </a:r>
            <a:r>
              <a:rPr lang="nl" sz="12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title</a:t>
            </a: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 Mijn website&lt;/</a:t>
            </a:r>
            <a:r>
              <a:rPr lang="nl" sz="12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title</a:t>
            </a: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&gt;&lt;/</a:t>
            </a:r>
            <a:r>
              <a:rPr lang="nl" sz="12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head</a:t>
            </a: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&gt;&lt;</a:t>
            </a:r>
            <a:r>
              <a:rPr lang="nl" sz="12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 &lt;</a:t>
            </a:r>
            <a:r>
              <a:rPr lang="nl" sz="12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h1</a:t>
            </a: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&gt;Welkom!&lt;/</a:t>
            </a:r>
            <a:r>
              <a:rPr lang="nl" sz="12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h1</a:t>
            </a: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&gt;&lt;</a:t>
            </a:r>
            <a:r>
              <a:rPr lang="nl" sz="12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&gt;Hier vind je informatie en links.&lt;/</a:t>
            </a:r>
            <a:r>
              <a:rPr lang="nl" sz="12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nl" sz="12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img</a:t>
            </a:r>
            <a:r>
              <a:rPr lang="nl" sz="1200">
                <a:solidFill>
                  <a:srgbClr val="B392F0"/>
                </a:solidFill>
                <a:latin typeface="Roboto Mono"/>
                <a:ea typeface="Roboto Mono"/>
                <a:cs typeface="Roboto Mono"/>
                <a:sym typeface="Roboto Mono"/>
              </a:rPr>
              <a:t> src</a:t>
            </a: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nl" sz="1200">
                <a:solidFill>
                  <a:srgbClr val="9ECBFF"/>
                </a:solidFill>
                <a:latin typeface="Roboto Mono"/>
                <a:ea typeface="Roboto Mono"/>
                <a:cs typeface="Roboto Mono"/>
                <a:sym typeface="Roboto Mono"/>
              </a:rPr>
              <a:t>"foto.jpg"</a:t>
            </a:r>
            <a:r>
              <a:rPr lang="nl" sz="1200">
                <a:solidFill>
                  <a:srgbClr val="B392F0"/>
                </a:solidFill>
                <a:latin typeface="Roboto Mono"/>
                <a:ea typeface="Roboto Mono"/>
                <a:cs typeface="Roboto Mono"/>
                <a:sym typeface="Roboto Mono"/>
              </a:rPr>
              <a:t> alt</a:t>
            </a: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nl" sz="1200">
                <a:solidFill>
                  <a:srgbClr val="9ECBFF"/>
                </a:solidFill>
                <a:latin typeface="Roboto Mono"/>
                <a:ea typeface="Roboto Mono"/>
                <a:cs typeface="Roboto Mono"/>
                <a:sym typeface="Roboto Mono"/>
              </a:rPr>
              <a:t>"voorbeeld"</a:t>
            </a: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&gt;&lt;</a:t>
            </a:r>
            <a:r>
              <a:rPr lang="nl" sz="12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ul</a:t>
            </a: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&gt;&lt;</a:t>
            </a:r>
            <a:r>
              <a:rPr lang="nl" sz="12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nl" sz="12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lang="nl" sz="1200">
                <a:solidFill>
                  <a:srgbClr val="B392F0"/>
                </a:solidFill>
                <a:latin typeface="Roboto Mono"/>
                <a:ea typeface="Roboto Mono"/>
                <a:cs typeface="Roboto Mono"/>
                <a:sym typeface="Roboto Mono"/>
              </a:rPr>
              <a:t> href</a:t>
            </a: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nl" sz="1200">
                <a:solidFill>
                  <a:srgbClr val="9ECBFF"/>
                </a:solidFill>
                <a:latin typeface="Roboto Mono"/>
                <a:ea typeface="Roboto Mono"/>
                <a:cs typeface="Roboto Mono"/>
                <a:sym typeface="Roboto Mono"/>
              </a:rPr>
              <a:t>"https://example.com"</a:t>
            </a: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&gt;Eerste link&lt;/</a:t>
            </a:r>
            <a:r>
              <a:rPr lang="nl" sz="12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&gt;&lt;/</a:t>
            </a:r>
            <a:r>
              <a:rPr lang="nl" sz="12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&gt;&lt;</a:t>
            </a:r>
            <a:r>
              <a:rPr lang="nl" sz="12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&gt;&lt;</a:t>
            </a:r>
            <a:r>
              <a:rPr lang="nl" sz="12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lang="nl" sz="1200">
                <a:solidFill>
                  <a:srgbClr val="B392F0"/>
                </a:solidFill>
                <a:latin typeface="Roboto Mono"/>
                <a:ea typeface="Roboto Mono"/>
                <a:cs typeface="Roboto Mono"/>
                <a:sym typeface="Roboto Mono"/>
              </a:rPr>
              <a:t> href</a:t>
            </a: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nl" sz="1200">
                <a:solidFill>
                  <a:srgbClr val="9ECBFF"/>
                </a:solidFill>
                <a:latin typeface="Roboto Mono"/>
                <a:ea typeface="Roboto Mono"/>
                <a:cs typeface="Roboto Mono"/>
                <a:sym typeface="Roboto Mono"/>
              </a:rPr>
              <a:t>"https://example.org"</a:t>
            </a: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&gt;Tweede link&lt;/</a:t>
            </a:r>
            <a:r>
              <a:rPr lang="nl" sz="12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&gt;&lt;/</a:t>
            </a:r>
            <a:r>
              <a:rPr lang="nl" sz="12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&gt;&lt;/</a:t>
            </a:r>
            <a:r>
              <a:rPr lang="nl" sz="12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ul</a:t>
            </a: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&gt;&lt;/</a:t>
            </a:r>
            <a:r>
              <a:rPr lang="nl" sz="12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&gt;&lt;/</a:t>
            </a:r>
            <a:r>
              <a:rPr lang="nl" sz="12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html</a:t>
            </a: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>
              <a:solidFill>
                <a:srgbClr val="E1E4E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4" name="Google Shape;264;p20"/>
          <p:cNvSpPr txBox="1">
            <a:spLocks noGrp="1"/>
          </p:cNvSpPr>
          <p:nvPr>
            <p:ph type="title"/>
          </p:nvPr>
        </p:nvSpPr>
        <p:spPr>
          <a:xfrm>
            <a:off x="4902750" y="1307850"/>
            <a:ext cx="1901400" cy="6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Oefening 2</a:t>
            </a:r>
            <a:endParaRPr/>
          </a:p>
        </p:txBody>
      </p:sp>
      <p:sp>
        <p:nvSpPr>
          <p:cNvPr id="265" name="Google Shape;265;p20"/>
          <p:cNvSpPr txBox="1">
            <a:spLocks noGrp="1"/>
          </p:cNvSpPr>
          <p:nvPr>
            <p:ph type="title"/>
          </p:nvPr>
        </p:nvSpPr>
        <p:spPr>
          <a:xfrm>
            <a:off x="632300" y="4238250"/>
            <a:ext cx="8199300" cy="6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nl" sz="2060"/>
              <a:t>Gebruik tabs en enters om je werk overzichtelijk te houden</a:t>
            </a:r>
            <a:endParaRPr sz="2060"/>
          </a:p>
        </p:txBody>
      </p:sp>
      <p:sp>
        <p:nvSpPr>
          <p:cNvPr id="266" name="Google Shape;266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8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1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nl" sz="2060"/>
              <a:t>Separation of Concerns: Ziet dit er overzichtelijk uit?</a:t>
            </a:r>
            <a:endParaRPr sz="2060"/>
          </a:p>
        </p:txBody>
      </p:sp>
      <p:sp>
        <p:nvSpPr>
          <p:cNvPr id="272" name="Google Shape;272;p21"/>
          <p:cNvSpPr txBox="1"/>
          <p:nvPr/>
        </p:nvSpPr>
        <p:spPr>
          <a:xfrm>
            <a:off x="1297500" y="1020475"/>
            <a:ext cx="7256400" cy="32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&lt;!</a:t>
            </a:r>
            <a:r>
              <a:rPr lang="nl" sz="10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DOCTYPE</a:t>
            </a:r>
            <a:r>
              <a:rPr lang="nl" sz="1000">
                <a:solidFill>
                  <a:srgbClr val="B392F0"/>
                </a:solidFill>
                <a:latin typeface="Roboto Mono"/>
                <a:ea typeface="Roboto Mono"/>
                <a:cs typeface="Roboto Mono"/>
                <a:sym typeface="Roboto Mono"/>
              </a:rPr>
              <a:t> html</a:t>
            </a: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nl" sz="10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html</a:t>
            </a: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  &lt;</a:t>
            </a:r>
            <a:r>
              <a:rPr lang="nl" sz="10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head</a:t>
            </a: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lang="nl" sz="10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title</a:t>
            </a: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&gt;Mijn Website&lt;/</a:t>
            </a:r>
            <a:r>
              <a:rPr lang="nl" sz="10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title</a:t>
            </a: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  &lt;/</a:t>
            </a:r>
            <a:r>
              <a:rPr lang="nl" sz="10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head</a:t>
            </a: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  &lt;</a:t>
            </a:r>
            <a:r>
              <a:rPr lang="nl" sz="10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lang="nl" sz="1000">
                <a:solidFill>
                  <a:srgbClr val="B392F0"/>
                </a:solidFill>
                <a:latin typeface="Roboto Mono"/>
                <a:ea typeface="Roboto Mono"/>
                <a:cs typeface="Roboto Mono"/>
                <a:sym typeface="Roboto Mono"/>
              </a:rPr>
              <a:t> style</a:t>
            </a: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nl" sz="1000">
                <a:solidFill>
                  <a:srgbClr val="9ECBFF"/>
                </a:solidFill>
                <a:latin typeface="Roboto Mono"/>
                <a:ea typeface="Roboto Mono"/>
                <a:cs typeface="Roboto Mono"/>
                <a:sym typeface="Roboto Mono"/>
              </a:rPr>
              <a:t>"background-color: lightblue; font-family: Verdana; margin:0; padding:0;"</a:t>
            </a: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lang="nl" sz="10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h1</a:t>
            </a:r>
            <a:r>
              <a:rPr lang="nl" sz="1000">
                <a:solidFill>
                  <a:srgbClr val="B392F0"/>
                </a:solidFill>
                <a:latin typeface="Roboto Mono"/>
                <a:ea typeface="Roboto Mono"/>
                <a:cs typeface="Roboto Mono"/>
                <a:sym typeface="Roboto Mono"/>
              </a:rPr>
              <a:t> style</a:t>
            </a: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nl" sz="1000">
                <a:solidFill>
                  <a:srgbClr val="9ECBFF"/>
                </a:solidFill>
                <a:latin typeface="Roboto Mono"/>
                <a:ea typeface="Roboto Mono"/>
                <a:cs typeface="Roboto Mono"/>
                <a:sym typeface="Roboto Mono"/>
              </a:rPr>
              <a:t>"color: red; text-align: center; background-color: yellow;"</a:t>
            </a: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&gt;Mijn site&lt;/</a:t>
            </a:r>
            <a:r>
              <a:rPr lang="nl" sz="10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h1</a:t>
            </a: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lang="nl" sz="10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lang="nl" sz="1000">
                <a:solidFill>
                  <a:srgbClr val="B392F0"/>
                </a:solidFill>
                <a:latin typeface="Roboto Mono"/>
                <a:ea typeface="Roboto Mono"/>
                <a:cs typeface="Roboto Mono"/>
                <a:sym typeface="Roboto Mono"/>
              </a:rPr>
              <a:t> style</a:t>
            </a: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nl" sz="1000">
                <a:solidFill>
                  <a:srgbClr val="9ECBFF"/>
                </a:solidFill>
                <a:latin typeface="Roboto Mono"/>
                <a:ea typeface="Roboto Mono"/>
                <a:cs typeface="Roboto Mono"/>
                <a:sym typeface="Roboto Mono"/>
              </a:rPr>
              <a:t>"font-size: 18px; color: green; line-height: 1.5; "</a:t>
            </a: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&gt;Dit is een paragraaf. &lt;/</a:t>
            </a:r>
            <a:r>
              <a:rPr lang="nl" sz="10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lang="nl" sz="10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lang="nl" sz="1000">
                <a:solidFill>
                  <a:srgbClr val="B392F0"/>
                </a:solidFill>
                <a:latin typeface="Roboto Mono"/>
                <a:ea typeface="Roboto Mono"/>
                <a:cs typeface="Roboto Mono"/>
                <a:sym typeface="Roboto Mono"/>
              </a:rPr>
              <a:t> style</a:t>
            </a: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nl" sz="1000">
                <a:solidFill>
                  <a:srgbClr val="9ECBFF"/>
                </a:solidFill>
                <a:latin typeface="Roboto Mono"/>
                <a:ea typeface="Roboto Mono"/>
                <a:cs typeface="Roboto Mono"/>
                <a:sym typeface="Roboto Mono"/>
              </a:rPr>
              <a:t>"font-size: 18px; color: purple; margin: 20px;"</a:t>
            </a: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&gt;Nog een stukje tekst.&lt;/</a:t>
            </a:r>
            <a:r>
              <a:rPr lang="nl" sz="10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lang="nl" sz="10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ul</a:t>
            </a:r>
            <a:r>
              <a:rPr lang="nl" sz="1000">
                <a:solidFill>
                  <a:srgbClr val="B392F0"/>
                </a:solidFill>
                <a:latin typeface="Roboto Mono"/>
                <a:ea typeface="Roboto Mono"/>
                <a:cs typeface="Roboto Mono"/>
                <a:sym typeface="Roboto Mono"/>
              </a:rPr>
              <a:t> style</a:t>
            </a: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nl" sz="1000">
                <a:solidFill>
                  <a:srgbClr val="9ECBFF"/>
                </a:solidFill>
                <a:latin typeface="Roboto Mono"/>
                <a:ea typeface="Roboto Mono"/>
                <a:cs typeface="Roboto Mono"/>
                <a:sym typeface="Roboto Mono"/>
              </a:rPr>
              <a:t>"list-style-type: square; color: blue; margin: 20px;"</a:t>
            </a: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      &lt;</a:t>
            </a:r>
            <a:r>
              <a:rPr lang="nl" sz="10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lang="nl" sz="1000">
                <a:solidFill>
                  <a:srgbClr val="B392F0"/>
                </a:solidFill>
                <a:latin typeface="Roboto Mono"/>
                <a:ea typeface="Roboto Mono"/>
                <a:cs typeface="Roboto Mono"/>
                <a:sym typeface="Roboto Mono"/>
              </a:rPr>
              <a:t> style</a:t>
            </a: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nl" sz="1000">
                <a:solidFill>
                  <a:srgbClr val="9ECBFF"/>
                </a:solidFill>
                <a:latin typeface="Roboto Mono"/>
                <a:ea typeface="Roboto Mono"/>
                <a:cs typeface="Roboto Mono"/>
                <a:sym typeface="Roboto Mono"/>
              </a:rPr>
              <a:t>"margin: 5px; font-weight: bold;"</a:t>
            </a: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&gt;Eerste item&lt;/</a:t>
            </a:r>
            <a:r>
              <a:rPr lang="nl" sz="10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      &lt;</a:t>
            </a:r>
            <a:r>
              <a:rPr lang="nl" sz="10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lang="nl" sz="1000">
                <a:solidFill>
                  <a:srgbClr val="B392F0"/>
                </a:solidFill>
                <a:latin typeface="Roboto Mono"/>
                <a:ea typeface="Roboto Mono"/>
                <a:cs typeface="Roboto Mono"/>
                <a:sym typeface="Roboto Mono"/>
              </a:rPr>
              <a:t> style</a:t>
            </a: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nl" sz="1000">
                <a:solidFill>
                  <a:srgbClr val="9ECBFF"/>
                </a:solidFill>
                <a:latin typeface="Roboto Mono"/>
                <a:ea typeface="Roboto Mono"/>
                <a:cs typeface="Roboto Mono"/>
                <a:sym typeface="Roboto Mono"/>
              </a:rPr>
              <a:t>"margin: 5px; font-style: italic; color: orange;"</a:t>
            </a: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&gt;Tweede item&lt;/</a:t>
            </a:r>
            <a:r>
              <a:rPr lang="nl" sz="10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      &lt;</a:t>
            </a:r>
            <a:r>
              <a:rPr lang="nl" sz="10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lang="nl" sz="1000">
                <a:solidFill>
                  <a:srgbClr val="B392F0"/>
                </a:solidFill>
                <a:latin typeface="Roboto Mono"/>
                <a:ea typeface="Roboto Mono"/>
                <a:cs typeface="Roboto Mono"/>
                <a:sym typeface="Roboto Mono"/>
              </a:rPr>
              <a:t> style</a:t>
            </a: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nl" sz="1000">
                <a:solidFill>
                  <a:srgbClr val="9ECBFF"/>
                </a:solidFill>
                <a:latin typeface="Roboto Mono"/>
                <a:ea typeface="Roboto Mono"/>
                <a:cs typeface="Roboto Mono"/>
                <a:sym typeface="Roboto Mono"/>
              </a:rPr>
              <a:t>"margin: 5px; text-decoration: underline; color: brown;"</a:t>
            </a: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&gt;Derde item&lt;/</a:t>
            </a:r>
            <a:r>
              <a:rPr lang="nl" sz="10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    &lt;/</a:t>
            </a:r>
            <a:r>
              <a:rPr lang="nl" sz="10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ul</a:t>
            </a: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  &lt;/</a:t>
            </a:r>
            <a:r>
              <a:rPr lang="nl" sz="10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lang="nl" sz="10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html</a:t>
            </a: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000">
              <a:solidFill>
                <a:srgbClr val="E1E4E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3" name="Google Shape;273;p21"/>
          <p:cNvSpPr txBox="1">
            <a:spLocks noGrp="1"/>
          </p:cNvSpPr>
          <p:nvPr>
            <p:ph type="title"/>
          </p:nvPr>
        </p:nvSpPr>
        <p:spPr>
          <a:xfrm>
            <a:off x="880875" y="4007775"/>
            <a:ext cx="8199300" cy="10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nl" sz="1554"/>
              <a:t>Mogelijke combinaties van HTML en CSS</a:t>
            </a:r>
            <a:endParaRPr sz="1554"/>
          </a:p>
          <a:p>
            <a:pPr marL="457200" lvl="0" indent="-308229" algn="l" rtl="0">
              <a:spcBef>
                <a:spcPts val="0"/>
              </a:spcBef>
              <a:spcAft>
                <a:spcPts val="0"/>
              </a:spcAft>
              <a:buSzPts val="1254"/>
              <a:buChar char="●"/>
            </a:pPr>
            <a:r>
              <a:rPr lang="nl" sz="1254"/>
              <a:t>In HTML</a:t>
            </a:r>
            <a:endParaRPr sz="1254"/>
          </a:p>
          <a:p>
            <a:pPr marL="457200" lvl="0" indent="-308229" algn="l" rtl="0">
              <a:spcBef>
                <a:spcPts val="0"/>
              </a:spcBef>
              <a:spcAft>
                <a:spcPts val="0"/>
              </a:spcAft>
              <a:buSzPts val="1254"/>
              <a:buChar char="●"/>
            </a:pPr>
            <a:r>
              <a:rPr lang="nl" sz="1254"/>
              <a:t>In &lt;Style&gt; binnen de &lt;head&gt; tag</a:t>
            </a:r>
            <a:endParaRPr sz="1254"/>
          </a:p>
          <a:p>
            <a:pPr marL="457200" lvl="0" indent="-308229" algn="l" rtl="0">
              <a:spcBef>
                <a:spcPts val="0"/>
              </a:spcBef>
              <a:spcAft>
                <a:spcPts val="0"/>
              </a:spcAft>
              <a:buSzPts val="1254"/>
              <a:buChar char="●"/>
            </a:pPr>
            <a:r>
              <a:rPr lang="nl" sz="1254"/>
              <a:t>Apart bestand dat je linkt binnen de &lt;head&gt; tag (&lt;link rel="stylesheet" href="style.css"&gt;)</a:t>
            </a:r>
            <a:endParaRPr sz="1254"/>
          </a:p>
        </p:txBody>
      </p:sp>
      <p:sp>
        <p:nvSpPr>
          <p:cNvPr id="274" name="Google Shape;274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9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2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Separation of Concerns</a:t>
            </a:r>
            <a:endParaRPr/>
          </a:p>
        </p:txBody>
      </p:sp>
      <p:sp>
        <p:nvSpPr>
          <p:cNvPr id="280" name="Google Shape;280;p22"/>
          <p:cNvSpPr txBox="1"/>
          <p:nvPr/>
        </p:nvSpPr>
        <p:spPr>
          <a:xfrm>
            <a:off x="1297500" y="1020475"/>
            <a:ext cx="7256400" cy="32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Nut ervan: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AutoNum type="arabicPeriod"/>
            </a:pPr>
            <a:r>
              <a:rPr lang="n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Code sneller begrijpen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AutoNum type="arabicPeriod"/>
            </a:pPr>
            <a:r>
              <a:rPr lang="n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Code makkelijker aanpassen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HTML: Beschrijft de inhoud van de webpagina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CSS: Geeft de stijl van de webpagina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1" name="Google Shape;281;p22"/>
          <p:cNvSpPr txBox="1"/>
          <p:nvPr/>
        </p:nvSpPr>
        <p:spPr>
          <a:xfrm>
            <a:off x="943925" y="2926750"/>
            <a:ext cx="2752500" cy="19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&lt;!</a:t>
            </a:r>
            <a:r>
              <a:rPr lang="nl" sz="10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DOCTYPE</a:t>
            </a:r>
            <a:r>
              <a:rPr lang="nl" sz="1000">
                <a:solidFill>
                  <a:srgbClr val="B392F0"/>
                </a:solidFill>
                <a:latin typeface="Roboto Mono"/>
                <a:ea typeface="Roboto Mono"/>
                <a:cs typeface="Roboto Mono"/>
                <a:sym typeface="Roboto Mono"/>
              </a:rPr>
              <a:t> html</a:t>
            </a: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nl" sz="10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html</a:t>
            </a: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  &lt;</a:t>
            </a:r>
            <a:r>
              <a:rPr lang="nl" sz="10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head</a:t>
            </a: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lang="nl" sz="10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title</a:t>
            </a: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&gt;Mijn Website&lt;/</a:t>
            </a:r>
            <a:r>
              <a:rPr lang="nl" sz="10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title</a:t>
            </a: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lang="nl" sz="10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link</a:t>
            </a:r>
            <a:r>
              <a:rPr lang="nl" sz="1000">
                <a:solidFill>
                  <a:srgbClr val="B392F0"/>
                </a:solidFill>
                <a:latin typeface="Roboto Mono"/>
                <a:ea typeface="Roboto Mono"/>
                <a:cs typeface="Roboto Mono"/>
                <a:sym typeface="Roboto Mono"/>
              </a:rPr>
              <a:t> rel</a:t>
            </a: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nl" sz="1000">
                <a:solidFill>
                  <a:srgbClr val="9ECBFF"/>
                </a:solidFill>
                <a:latin typeface="Roboto Mono"/>
                <a:ea typeface="Roboto Mono"/>
                <a:cs typeface="Roboto Mono"/>
                <a:sym typeface="Roboto Mono"/>
              </a:rPr>
              <a:t>"stylesheet"</a:t>
            </a:r>
            <a:r>
              <a:rPr lang="nl" sz="1000">
                <a:solidFill>
                  <a:srgbClr val="B392F0"/>
                </a:solidFill>
                <a:latin typeface="Roboto Mono"/>
                <a:ea typeface="Roboto Mono"/>
                <a:cs typeface="Roboto Mono"/>
                <a:sym typeface="Roboto Mono"/>
              </a:rPr>
              <a:t> href</a:t>
            </a: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nl" sz="1000">
                <a:solidFill>
                  <a:srgbClr val="9ECBFF"/>
                </a:solidFill>
                <a:latin typeface="Roboto Mono"/>
                <a:ea typeface="Roboto Mono"/>
                <a:cs typeface="Roboto Mono"/>
                <a:sym typeface="Roboto Mono"/>
              </a:rPr>
              <a:t>"stijl.css"</a:t>
            </a: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  &lt;/</a:t>
            </a:r>
            <a:r>
              <a:rPr lang="nl" sz="10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head</a:t>
            </a: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  &lt;</a:t>
            </a:r>
            <a:r>
              <a:rPr lang="nl" sz="10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    . . . 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  &lt;/</a:t>
            </a:r>
            <a:r>
              <a:rPr lang="nl" sz="10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lang="nl" sz="10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html</a:t>
            </a: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000">
              <a:solidFill>
                <a:srgbClr val="E1E4E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2" name="Google Shape;282;p22"/>
          <p:cNvSpPr txBox="1"/>
          <p:nvPr/>
        </p:nvSpPr>
        <p:spPr>
          <a:xfrm>
            <a:off x="4118450" y="2808850"/>
            <a:ext cx="2752500" cy="21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0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000">
                <a:solidFill>
                  <a:srgbClr val="79B8FF"/>
                </a:solidFill>
                <a:latin typeface="Roboto Mono"/>
                <a:ea typeface="Roboto Mono"/>
                <a:cs typeface="Roboto Mono"/>
                <a:sym typeface="Roboto Mono"/>
              </a:rPr>
              <a:t>  background-color</a:t>
            </a: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nl" sz="1000">
                <a:solidFill>
                  <a:srgbClr val="79B8FF"/>
                </a:solidFill>
                <a:latin typeface="Roboto Mono"/>
                <a:ea typeface="Roboto Mono"/>
                <a:cs typeface="Roboto Mono"/>
                <a:sym typeface="Roboto Mono"/>
              </a:rPr>
              <a:t>lightblue</a:t>
            </a: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000">
                <a:solidFill>
                  <a:srgbClr val="79B8FF"/>
                </a:solidFill>
                <a:latin typeface="Roboto Mono"/>
                <a:ea typeface="Roboto Mono"/>
                <a:cs typeface="Roboto Mono"/>
                <a:sym typeface="Roboto Mono"/>
              </a:rPr>
              <a:t>  font-family</a:t>
            </a: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nl" sz="1000">
                <a:solidFill>
                  <a:srgbClr val="79B8FF"/>
                </a:solidFill>
                <a:latin typeface="Roboto Mono"/>
                <a:ea typeface="Roboto Mono"/>
                <a:cs typeface="Roboto Mono"/>
                <a:sym typeface="Roboto Mono"/>
              </a:rPr>
              <a:t>Verdana</a:t>
            </a: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000">
                <a:solidFill>
                  <a:srgbClr val="79B8FF"/>
                </a:solidFill>
                <a:latin typeface="Roboto Mono"/>
                <a:ea typeface="Roboto Mono"/>
                <a:cs typeface="Roboto Mono"/>
                <a:sym typeface="Roboto Mono"/>
              </a:rPr>
              <a:t>  margin</a:t>
            </a: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nl" sz="1000">
                <a:solidFill>
                  <a:srgbClr val="79B8FF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000">
                <a:solidFill>
                  <a:srgbClr val="79B8FF"/>
                </a:solidFill>
                <a:latin typeface="Roboto Mono"/>
                <a:ea typeface="Roboto Mono"/>
                <a:cs typeface="Roboto Mono"/>
                <a:sym typeface="Roboto Mono"/>
              </a:rPr>
              <a:t>  padding</a:t>
            </a: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nl" sz="1000">
                <a:solidFill>
                  <a:srgbClr val="79B8FF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0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h1</a:t>
            </a: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000">
                <a:solidFill>
                  <a:srgbClr val="79B8FF"/>
                </a:solidFill>
                <a:latin typeface="Roboto Mono"/>
                <a:ea typeface="Roboto Mono"/>
                <a:cs typeface="Roboto Mono"/>
                <a:sym typeface="Roboto Mono"/>
              </a:rPr>
              <a:t>  color</a:t>
            </a: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nl" sz="1000">
                <a:solidFill>
                  <a:srgbClr val="79B8FF"/>
                </a:solidFill>
                <a:latin typeface="Roboto Mono"/>
                <a:ea typeface="Roboto Mono"/>
                <a:cs typeface="Roboto Mono"/>
                <a:sym typeface="Roboto Mono"/>
              </a:rPr>
              <a:t>red</a:t>
            </a: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000">
                <a:solidFill>
                  <a:srgbClr val="79B8FF"/>
                </a:solidFill>
                <a:latin typeface="Roboto Mono"/>
                <a:ea typeface="Roboto Mono"/>
                <a:cs typeface="Roboto Mono"/>
                <a:sym typeface="Roboto Mono"/>
              </a:rPr>
              <a:t>  text-align</a:t>
            </a: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nl" sz="1000">
                <a:solidFill>
                  <a:srgbClr val="79B8FF"/>
                </a:solidFill>
                <a:latin typeface="Roboto Mono"/>
                <a:ea typeface="Roboto Mono"/>
                <a:cs typeface="Roboto Mono"/>
                <a:sym typeface="Roboto Mono"/>
              </a:rPr>
              <a:t>center</a:t>
            </a: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000">
                <a:solidFill>
                  <a:srgbClr val="79B8FF"/>
                </a:solidFill>
                <a:latin typeface="Roboto Mono"/>
                <a:ea typeface="Roboto Mono"/>
                <a:cs typeface="Roboto Mono"/>
                <a:sym typeface="Roboto Mono"/>
              </a:rPr>
              <a:t>  background-color</a:t>
            </a: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nl" sz="1000">
                <a:solidFill>
                  <a:srgbClr val="79B8FF"/>
                </a:solidFill>
                <a:latin typeface="Roboto Mono"/>
                <a:ea typeface="Roboto Mono"/>
                <a:cs typeface="Roboto Mono"/>
                <a:sym typeface="Roboto Mono"/>
              </a:rPr>
              <a:t>yellow</a:t>
            </a: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" sz="10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. . .</a:t>
            </a:r>
            <a:endParaRPr sz="1000">
              <a:solidFill>
                <a:srgbClr val="E1E4E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3" name="Google Shape;283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3"/>
          <p:cNvSpPr txBox="1">
            <a:spLocks noGrp="1"/>
          </p:cNvSpPr>
          <p:nvPr>
            <p:ph type="title"/>
          </p:nvPr>
        </p:nvSpPr>
        <p:spPr>
          <a:xfrm>
            <a:off x="1052550" y="342125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CSS niveau</a:t>
            </a:r>
            <a:endParaRPr/>
          </a:p>
        </p:txBody>
      </p:sp>
      <p:sp>
        <p:nvSpPr>
          <p:cNvPr id="289" name="Google Shape;289;p23"/>
          <p:cNvSpPr txBox="1"/>
          <p:nvPr/>
        </p:nvSpPr>
        <p:spPr>
          <a:xfrm>
            <a:off x="472350" y="1495400"/>
            <a:ext cx="5011200" cy="30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0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&lt;!</a:t>
            </a:r>
            <a:r>
              <a:rPr lang="nl" sz="1000" dirty="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DOCTYPE</a:t>
            </a:r>
            <a:r>
              <a:rPr lang="nl" sz="1000" dirty="0">
                <a:solidFill>
                  <a:srgbClr val="B392F0"/>
                </a:solidFill>
                <a:latin typeface="Roboto Mono"/>
                <a:ea typeface="Roboto Mono"/>
                <a:cs typeface="Roboto Mono"/>
                <a:sym typeface="Roboto Mono"/>
              </a:rPr>
              <a:t> html</a:t>
            </a:r>
            <a:r>
              <a:rPr lang="nl" sz="10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000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0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nl" sz="1000" dirty="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html</a:t>
            </a:r>
            <a:r>
              <a:rPr lang="nl" sz="10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000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0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nl" sz="1000" dirty="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head</a:t>
            </a:r>
            <a:r>
              <a:rPr lang="nl" sz="10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000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0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  &lt;</a:t>
            </a:r>
            <a:r>
              <a:rPr lang="nl" sz="1000" dirty="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title</a:t>
            </a:r>
            <a:r>
              <a:rPr lang="nl" sz="10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&gt;Slecht voorbeeld&lt;/</a:t>
            </a:r>
            <a:r>
              <a:rPr lang="nl" sz="1000" dirty="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title</a:t>
            </a:r>
            <a:r>
              <a:rPr lang="nl" sz="10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000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0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lang="nl" sz="1000" dirty="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head</a:t>
            </a:r>
            <a:r>
              <a:rPr lang="nl" sz="10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000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0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nl" sz="1000" dirty="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lang="nl" sz="10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</a:p>
          <a:p>
            <a:r>
              <a:rPr lang="nl-NL" sz="10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  &lt;</a:t>
            </a:r>
            <a:r>
              <a:rPr lang="nl-NL" sz="1000" dirty="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lang="nl-NL" sz="10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&gt;Tekst&lt;</a:t>
            </a:r>
            <a:r>
              <a:rPr lang="nl-NL" sz="1000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/</a:t>
            </a:r>
            <a:r>
              <a:rPr lang="nl-NL" sz="1000" dirty="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lang="nl-NL" sz="10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lang="nl-NL" sz="1000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0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  &lt;</a:t>
            </a:r>
            <a:r>
              <a:rPr lang="nl" sz="1000" dirty="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ul</a:t>
            </a:r>
            <a:r>
              <a:rPr lang="nl" sz="10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000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0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lang="nl" sz="1000" dirty="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lang="nl" sz="1000" dirty="0">
                <a:solidFill>
                  <a:srgbClr val="B392F0"/>
                </a:solidFill>
                <a:latin typeface="Roboto Mono"/>
                <a:ea typeface="Roboto Mono"/>
                <a:cs typeface="Roboto Mono"/>
                <a:sym typeface="Roboto Mono"/>
              </a:rPr>
              <a:t> style</a:t>
            </a:r>
            <a:r>
              <a:rPr lang="nl" sz="10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nl" sz="1000" dirty="0">
                <a:solidFill>
                  <a:srgbClr val="9ECBFF"/>
                </a:solidFill>
                <a:latin typeface="Roboto Mono"/>
                <a:ea typeface="Roboto Mono"/>
                <a:cs typeface="Roboto Mono"/>
                <a:sym typeface="Roboto Mono"/>
              </a:rPr>
              <a:t>"color: red; font-weight: bold;"</a:t>
            </a:r>
            <a:r>
              <a:rPr lang="nl" sz="10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&gt;Eerste item&lt;/</a:t>
            </a:r>
            <a:r>
              <a:rPr lang="nl" sz="1000" dirty="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lang="nl" sz="10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000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0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lang="nl" sz="1000" dirty="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lang="nl" sz="1000" dirty="0">
                <a:solidFill>
                  <a:srgbClr val="B392F0"/>
                </a:solidFill>
                <a:latin typeface="Roboto Mono"/>
                <a:ea typeface="Roboto Mono"/>
                <a:cs typeface="Roboto Mono"/>
                <a:sym typeface="Roboto Mono"/>
              </a:rPr>
              <a:t> style</a:t>
            </a:r>
            <a:r>
              <a:rPr lang="nl" sz="10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nl" sz="1000" dirty="0">
                <a:solidFill>
                  <a:srgbClr val="9ECBFF"/>
                </a:solidFill>
                <a:latin typeface="Roboto Mono"/>
                <a:ea typeface="Roboto Mono"/>
                <a:cs typeface="Roboto Mono"/>
                <a:sym typeface="Roboto Mono"/>
              </a:rPr>
              <a:t>"color: red; font-weight: bold;"</a:t>
            </a:r>
            <a:r>
              <a:rPr lang="nl" sz="10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&gt;Tweede item&lt;/</a:t>
            </a:r>
            <a:r>
              <a:rPr lang="nl" sz="1000" dirty="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lang="nl" sz="10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000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0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lang="nl" sz="1000" dirty="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lang="nl" sz="1000" dirty="0">
                <a:solidFill>
                  <a:srgbClr val="B392F0"/>
                </a:solidFill>
                <a:latin typeface="Roboto Mono"/>
                <a:ea typeface="Roboto Mono"/>
                <a:cs typeface="Roboto Mono"/>
                <a:sym typeface="Roboto Mono"/>
              </a:rPr>
              <a:t> style</a:t>
            </a:r>
            <a:r>
              <a:rPr lang="nl" sz="10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nl" sz="1000" dirty="0">
                <a:solidFill>
                  <a:srgbClr val="9ECBFF"/>
                </a:solidFill>
                <a:latin typeface="Roboto Mono"/>
                <a:ea typeface="Roboto Mono"/>
                <a:cs typeface="Roboto Mono"/>
                <a:sym typeface="Roboto Mono"/>
              </a:rPr>
              <a:t>"color: red; font-weight: bold;"</a:t>
            </a:r>
            <a:r>
              <a:rPr lang="nl" sz="10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&gt;Derde item&lt;/</a:t>
            </a:r>
            <a:r>
              <a:rPr lang="nl" sz="1000" dirty="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lang="nl" sz="10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000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0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  &lt;/</a:t>
            </a:r>
            <a:r>
              <a:rPr lang="nl" sz="1000" dirty="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ul</a:t>
            </a:r>
            <a:r>
              <a:rPr lang="nl" sz="10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000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0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lang="nl" sz="1000" dirty="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lang="nl" sz="10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000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" sz="10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lang="nl" sz="1000" dirty="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html</a:t>
            </a:r>
            <a:r>
              <a:rPr lang="nl" sz="10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000" dirty="0">
              <a:solidFill>
                <a:srgbClr val="E1E4E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0" name="Google Shape;290;p23"/>
          <p:cNvSpPr txBox="1">
            <a:spLocks noGrp="1"/>
          </p:cNvSpPr>
          <p:nvPr>
            <p:ph type="title"/>
          </p:nvPr>
        </p:nvSpPr>
        <p:spPr>
          <a:xfrm>
            <a:off x="472350" y="4471925"/>
            <a:ext cx="8199300" cy="5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ct val="48058"/>
              <a:buNone/>
            </a:pPr>
            <a:r>
              <a:rPr lang="nl" sz="2060"/>
              <a:t>Geef de stijl altijd mee aan het hoogst mogelijke parent element</a:t>
            </a:r>
            <a:endParaRPr sz="2060"/>
          </a:p>
        </p:txBody>
      </p:sp>
      <p:sp>
        <p:nvSpPr>
          <p:cNvPr id="291" name="Google Shape;291;p23"/>
          <p:cNvSpPr/>
          <p:nvPr/>
        </p:nvSpPr>
        <p:spPr>
          <a:xfrm>
            <a:off x="4984450" y="1813325"/>
            <a:ext cx="499800" cy="8439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2" name="Google Shape;292;p23"/>
          <p:cNvSpPr txBox="1"/>
          <p:nvPr/>
        </p:nvSpPr>
        <p:spPr>
          <a:xfrm>
            <a:off x="5549550" y="450650"/>
            <a:ext cx="3374700" cy="32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2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&lt;!</a:t>
            </a:r>
            <a:r>
              <a:rPr lang="nl" sz="1200" dirty="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DOCTYPE</a:t>
            </a:r>
            <a:r>
              <a:rPr lang="nl" sz="1200" dirty="0">
                <a:solidFill>
                  <a:srgbClr val="B392F0"/>
                </a:solidFill>
                <a:latin typeface="Roboto Mono"/>
                <a:ea typeface="Roboto Mono"/>
                <a:cs typeface="Roboto Mono"/>
                <a:sym typeface="Roboto Mono"/>
              </a:rPr>
              <a:t> html</a:t>
            </a:r>
            <a:r>
              <a:rPr lang="nl" sz="12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2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nl" sz="1200" dirty="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html</a:t>
            </a:r>
            <a:r>
              <a:rPr lang="nl" sz="12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2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nl" sz="1200" dirty="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head</a:t>
            </a:r>
            <a:r>
              <a:rPr lang="nl" sz="12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2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  &lt;</a:t>
            </a:r>
            <a:r>
              <a:rPr lang="nl" sz="1200" dirty="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title</a:t>
            </a:r>
            <a:r>
              <a:rPr lang="nl" sz="12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&gt;Goed voorbeeld&lt;/</a:t>
            </a:r>
            <a:r>
              <a:rPr lang="nl" sz="1200" dirty="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title</a:t>
            </a:r>
            <a:r>
              <a:rPr lang="nl" sz="12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2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  &lt;</a:t>
            </a:r>
            <a:r>
              <a:rPr lang="nl" sz="1200" dirty="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link</a:t>
            </a:r>
            <a:r>
              <a:rPr lang="nl" sz="1200" dirty="0">
                <a:solidFill>
                  <a:srgbClr val="B392F0"/>
                </a:solidFill>
                <a:latin typeface="Roboto Mono"/>
                <a:ea typeface="Roboto Mono"/>
                <a:cs typeface="Roboto Mono"/>
                <a:sym typeface="Roboto Mono"/>
              </a:rPr>
              <a:t> rel</a:t>
            </a:r>
            <a:r>
              <a:rPr lang="nl" sz="12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nl" sz="1200" dirty="0">
                <a:solidFill>
                  <a:srgbClr val="9ECBFF"/>
                </a:solidFill>
                <a:latin typeface="Roboto Mono"/>
                <a:ea typeface="Roboto Mono"/>
                <a:cs typeface="Roboto Mono"/>
                <a:sym typeface="Roboto Mono"/>
              </a:rPr>
              <a:t>"stylesheet"</a:t>
            </a:r>
            <a:r>
              <a:rPr lang="nl" sz="1200" dirty="0">
                <a:solidFill>
                  <a:srgbClr val="B392F0"/>
                </a:solidFill>
                <a:latin typeface="Roboto Mono"/>
                <a:ea typeface="Roboto Mono"/>
                <a:cs typeface="Roboto Mono"/>
                <a:sym typeface="Roboto Mono"/>
              </a:rPr>
              <a:t> href</a:t>
            </a:r>
            <a:r>
              <a:rPr lang="nl" sz="12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nl" sz="1200" dirty="0">
                <a:solidFill>
                  <a:srgbClr val="9ECBFF"/>
                </a:solidFill>
                <a:latin typeface="Roboto Mono"/>
                <a:ea typeface="Roboto Mono"/>
                <a:cs typeface="Roboto Mono"/>
                <a:sym typeface="Roboto Mono"/>
              </a:rPr>
              <a:t>"stijl.css"</a:t>
            </a:r>
            <a:r>
              <a:rPr lang="nl" sz="12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2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lang="nl" sz="1200" dirty="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head</a:t>
            </a:r>
            <a:r>
              <a:rPr lang="nl" sz="12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2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nl" sz="1200" dirty="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lang="nl" sz="12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</a:p>
          <a:p>
            <a:r>
              <a:rPr lang="nl-NL" sz="12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  &lt;</a:t>
            </a:r>
            <a:r>
              <a:rPr lang="nl-NL" sz="1200" dirty="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lang="nl-NL" sz="12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&gt;Tekst&lt;</a:t>
            </a:r>
            <a:r>
              <a:rPr lang="nl-NL" sz="1200" dirty="0">
                <a:solidFill>
                  <a:schemeClr val="bg1"/>
                </a:solidFill>
                <a:latin typeface="Roboto Mono"/>
                <a:ea typeface="Roboto Mono"/>
                <a:cs typeface="Roboto Mono"/>
                <a:sym typeface="Roboto Mono"/>
              </a:rPr>
              <a:t>/</a:t>
            </a:r>
            <a:r>
              <a:rPr lang="nl-NL" sz="1200" dirty="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lang="nl-NL" sz="12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2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  &lt;</a:t>
            </a:r>
            <a:r>
              <a:rPr lang="nl" sz="1200" dirty="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ul</a:t>
            </a:r>
            <a:r>
              <a:rPr lang="nl" sz="12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2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lang="nl" sz="1200" dirty="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lang="nl" sz="12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&gt;Eerste item&lt;/</a:t>
            </a:r>
            <a:r>
              <a:rPr lang="nl" sz="1200" dirty="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lang="nl" sz="12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2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lang="nl" sz="1200" dirty="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lang="nl" sz="12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&gt;Tweede item&lt;/</a:t>
            </a:r>
            <a:r>
              <a:rPr lang="nl" sz="1200" dirty="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lang="nl" sz="12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2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    &lt;</a:t>
            </a:r>
            <a:r>
              <a:rPr lang="nl" sz="1200" dirty="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lang="nl" sz="12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&gt;Derde item&lt;/</a:t>
            </a:r>
            <a:r>
              <a:rPr lang="nl" sz="1200" dirty="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li</a:t>
            </a:r>
            <a:r>
              <a:rPr lang="nl" sz="12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2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  &lt;/</a:t>
            </a:r>
            <a:r>
              <a:rPr lang="nl" sz="1200" dirty="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ul</a:t>
            </a:r>
            <a:r>
              <a:rPr lang="nl" sz="12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2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lang="nl" sz="1200" dirty="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lang="nl" sz="12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" sz="12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lang="nl" sz="1200" dirty="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html</a:t>
            </a:r>
            <a:r>
              <a:rPr lang="nl" sz="1200" dirty="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200" dirty="0">
              <a:solidFill>
                <a:srgbClr val="E1E4E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3" name="Google Shape;293;p23"/>
          <p:cNvSpPr txBox="1"/>
          <p:nvPr/>
        </p:nvSpPr>
        <p:spPr>
          <a:xfrm>
            <a:off x="5624375" y="3493325"/>
            <a:ext cx="3374700" cy="8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200">
                <a:solidFill>
                  <a:srgbClr val="85E89D"/>
                </a:solidFill>
                <a:latin typeface="Roboto Mono"/>
                <a:ea typeface="Roboto Mono"/>
                <a:cs typeface="Roboto Mono"/>
                <a:sym typeface="Roboto Mono"/>
              </a:rPr>
              <a:t>ul</a:t>
            </a: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200">
                <a:solidFill>
                  <a:srgbClr val="79B8FF"/>
                </a:solidFill>
                <a:latin typeface="Roboto Mono"/>
                <a:ea typeface="Roboto Mono"/>
                <a:cs typeface="Roboto Mono"/>
                <a:sym typeface="Roboto Mono"/>
              </a:rPr>
              <a:t>  color</a:t>
            </a: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nl" sz="1200">
                <a:solidFill>
                  <a:srgbClr val="79B8FF"/>
                </a:solidFill>
                <a:latin typeface="Roboto Mono"/>
                <a:ea typeface="Roboto Mono"/>
                <a:cs typeface="Roboto Mono"/>
                <a:sym typeface="Roboto Mono"/>
              </a:rPr>
              <a:t>red</a:t>
            </a: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200">
                <a:solidFill>
                  <a:srgbClr val="79B8FF"/>
                </a:solidFill>
                <a:latin typeface="Roboto Mono"/>
                <a:ea typeface="Roboto Mono"/>
                <a:cs typeface="Roboto Mono"/>
                <a:sym typeface="Roboto Mono"/>
              </a:rPr>
              <a:t>  font-weight</a:t>
            </a: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nl" sz="1200">
                <a:solidFill>
                  <a:srgbClr val="79B8FF"/>
                </a:solidFill>
                <a:latin typeface="Roboto Mono"/>
                <a:ea typeface="Roboto Mono"/>
                <a:cs typeface="Roboto Mono"/>
                <a:sym typeface="Roboto Mono"/>
              </a:rPr>
              <a:t>bold</a:t>
            </a: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" sz="1200">
                <a:solidFill>
                  <a:srgbClr val="E1E4E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200">
              <a:solidFill>
                <a:srgbClr val="E1E4E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94" name="Google Shape;294;p23"/>
          <p:cNvCxnSpPr/>
          <p:nvPr/>
        </p:nvCxnSpPr>
        <p:spPr>
          <a:xfrm rot="10800000" flipH="1">
            <a:off x="5624375" y="3544625"/>
            <a:ext cx="3081000" cy="3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5" name="Google Shape;295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11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4"/>
          <p:cNvSpPr txBox="1">
            <a:spLocks noGrp="1"/>
          </p:cNvSpPr>
          <p:nvPr>
            <p:ph type="title"/>
          </p:nvPr>
        </p:nvSpPr>
        <p:spPr>
          <a:xfrm>
            <a:off x="1052550" y="342125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Commentaar in HTML en CSS</a:t>
            </a:r>
            <a:endParaRPr/>
          </a:p>
        </p:txBody>
      </p:sp>
      <p:sp>
        <p:nvSpPr>
          <p:cNvPr id="301" name="Google Shape;301;p24"/>
          <p:cNvSpPr txBox="1"/>
          <p:nvPr/>
        </p:nvSpPr>
        <p:spPr>
          <a:xfrm>
            <a:off x="868175" y="1449800"/>
            <a:ext cx="3939600" cy="30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Gebruik commentaar om je document te structureren en uit te leggen wat je doet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n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HTML: &lt;!-- Typ hier →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n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CSS: /* Typ hier */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02" name="Google Shape;30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0175" y="1281938"/>
            <a:ext cx="3040650" cy="335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4900" y="3024001"/>
            <a:ext cx="3939600" cy="453465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5"/>
          <p:cNvSpPr txBox="1">
            <a:spLocks noGrp="1"/>
          </p:cNvSpPr>
          <p:nvPr>
            <p:ph type="title"/>
          </p:nvPr>
        </p:nvSpPr>
        <p:spPr>
          <a:xfrm>
            <a:off x="1052550" y="342125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Structuur project</a:t>
            </a:r>
            <a:endParaRPr/>
          </a:p>
        </p:txBody>
      </p:sp>
      <p:sp>
        <p:nvSpPr>
          <p:cNvPr id="310" name="Google Shape;310;p25"/>
          <p:cNvSpPr txBox="1"/>
          <p:nvPr/>
        </p:nvSpPr>
        <p:spPr>
          <a:xfrm>
            <a:off x="5296125" y="1256225"/>
            <a:ext cx="2937900" cy="32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Voorbeeld structuur: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mijn-website/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├── index.html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├── contact.html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├── over.html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├── stijl.css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└── images/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    ├── logo.png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    ├── achtergrond.jpg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     └── profielfoto.png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1" name="Google Shape;311;p25"/>
          <p:cNvSpPr txBox="1"/>
          <p:nvPr/>
        </p:nvSpPr>
        <p:spPr>
          <a:xfrm>
            <a:off x="1273100" y="1256225"/>
            <a:ext cx="3138900" cy="32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</a:pPr>
            <a:r>
              <a:rPr lang="nl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index.html als hoofdpagina van je website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</a:pPr>
            <a:r>
              <a:rPr lang="nl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andere html bestanden voor andere pagina’s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</a:pPr>
            <a:r>
              <a:rPr lang="nl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Eén CSS bestand voor alle HTML bestanden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</a:pPr>
            <a:r>
              <a:rPr lang="nl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Aanpassing in stijl gebeurd gelijk overal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</a:pPr>
            <a:r>
              <a:rPr lang="nl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Map met alle plaatjes op je website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2" name="Google Shape;312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Welke tags kennen we al?</a:t>
            </a:r>
            <a:endParaRPr/>
          </a:p>
        </p:txBody>
      </p:sp>
      <p:sp>
        <p:nvSpPr>
          <p:cNvPr id="318" name="Google Shape;318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Alles begrepen?</a:t>
            </a:r>
            <a:endParaRPr/>
          </a:p>
        </p:txBody>
      </p:sp>
      <p:sp>
        <p:nvSpPr>
          <p:cNvPr id="324" name="Google Shape;324;p27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Neem een klein blaadje, deel zo nodig met elkaar en beantwoord de volgende vragen: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SzPts val="1300"/>
              <a:buAutoNum type="arabicParenR"/>
            </a:pPr>
            <a:r>
              <a:rPr lang="nl"/>
              <a:t>Schrijf op wat het protocol, de server, map en het bestand is van volgende URL: </a:t>
            </a:r>
            <a:r>
              <a:rPr lang="nl" u="sng">
                <a:solidFill>
                  <a:schemeClr val="hlink"/>
                </a:solidFill>
                <a:hlinkClick r:id="rId3"/>
              </a:rPr>
              <a:t>https://www.universiteitleiden.nl/onderwijs</a:t>
            </a:r>
            <a:r>
              <a:rPr lang="nl"/>
              <a:t> 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arenR"/>
            </a:pPr>
            <a:r>
              <a:rPr lang="nl"/>
              <a:t>Waarom is separation of concerns belangrijk?</a:t>
            </a:r>
            <a:endParaRPr/>
          </a:p>
        </p:txBody>
      </p:sp>
      <p:sp>
        <p:nvSpPr>
          <p:cNvPr id="325" name="Google Shape;325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15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1469</Words>
  <Application>Microsoft Macintosh PowerPoint</Application>
  <PresentationFormat>Diavoorstelling (16:9)</PresentationFormat>
  <Paragraphs>260</Paragraphs>
  <Slides>15</Slides>
  <Notes>15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15</vt:i4>
      </vt:variant>
    </vt:vector>
  </HeadingPairs>
  <TitlesOfParts>
    <vt:vector size="20" baseType="lpstr">
      <vt:lpstr>Arial</vt:lpstr>
      <vt:lpstr>Montserrat</vt:lpstr>
      <vt:lpstr>Lato</vt:lpstr>
      <vt:lpstr>Roboto Mono</vt:lpstr>
      <vt:lpstr>Focus</vt:lpstr>
      <vt:lpstr>Uitleg: Basis + HTML tags</vt:lpstr>
      <vt:lpstr>Eerst de basis: Stappen voor je een website bezoekt</vt:lpstr>
      <vt:lpstr>Eerst de basis: We zitten bij de browser, wat nu?</vt:lpstr>
      <vt:lpstr>Samenvatting</vt:lpstr>
      <vt:lpstr>Basis HTML</vt:lpstr>
      <vt:lpstr>HTML als sandwich</vt:lpstr>
      <vt:lpstr>HTML in stambomen</vt:lpstr>
      <vt:lpstr>Oefeningen Stambomen</vt:lpstr>
      <vt:lpstr>Separation of Concerns: Ziet dit er overzichtelijk uit?</vt:lpstr>
      <vt:lpstr>Separation of Concerns</vt:lpstr>
      <vt:lpstr>CSS niveau</vt:lpstr>
      <vt:lpstr>Commentaar in HTML en CSS</vt:lpstr>
      <vt:lpstr>Structuur project</vt:lpstr>
      <vt:lpstr>Welke tags kennen we al?</vt:lpstr>
      <vt:lpstr>Alles begrepen?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Segers, M.</cp:lastModifiedBy>
  <cp:revision>2</cp:revision>
  <dcterms:modified xsi:type="dcterms:W3CDTF">2026-09-09T11:17:18Z</dcterms:modified>
</cp:coreProperties>
</file>