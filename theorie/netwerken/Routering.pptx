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72" r:id="rId4"/>
    <p:sldId id="273" r:id="rId5"/>
    <p:sldId id="281" r:id="rId6"/>
    <p:sldId id="274" r:id="rId7"/>
    <p:sldId id="275" r:id="rId8"/>
    <p:sldId id="282" r:id="rId9"/>
    <p:sldId id="283" r:id="rId10"/>
    <p:sldId id="276" r:id="rId11"/>
    <p:sldId id="284" r:id="rId12"/>
    <p:sldId id="277" r:id="rId13"/>
    <p:sldId id="280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27"/>
  </p:normalViewPr>
  <p:slideViewPr>
    <p:cSldViewPr snapToGrid="0">
      <p:cViewPr varScale="1">
        <p:scale>
          <a:sx n="110" d="100"/>
          <a:sy n="110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29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91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49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81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831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78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60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38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9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96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11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53BDC-9EAE-49FE-9892-958C9F845175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54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Netwerklaag</a:t>
            </a:r>
            <a:r>
              <a:rPr lang="nl-NL" dirty="0"/>
              <a:t>: Routering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/>
              <a:t>Mnr</a:t>
            </a:r>
            <a:r>
              <a:rPr lang="de-DE" dirty="0"/>
              <a:t>. Segers</a:t>
            </a:r>
          </a:p>
        </p:txBody>
      </p:sp>
    </p:spTree>
    <p:extLst>
      <p:ext uri="{BB962C8B-B14F-4D97-AF65-F5344CB8AC3E}">
        <p14:creationId xmlns:p14="http://schemas.microsoft.com/office/powerpoint/2010/main" val="335143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101ED-8CB7-6C40-A032-17A96399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7269D1-9337-5555-1C67-B8980F979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Delen van een IP-adres</a:t>
            </a:r>
          </a:p>
        </p:txBody>
      </p:sp>
      <p:pic>
        <p:nvPicPr>
          <p:cNvPr id="4" name="Tijdelijke aanduiding voor inhoud 3" descr="Postbode.nu, digitaal versturen en ontvangen van papieren post">
            <a:extLst>
              <a:ext uri="{FF2B5EF4-FFF2-40B4-BE49-F238E27FC236}">
                <a16:creationId xmlns:a16="http://schemas.microsoft.com/office/drawing/2014/main" id="{A593E7A4-8128-8055-EEF6-52077C1D7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89580" y="3660646"/>
            <a:ext cx="3133372" cy="2716368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3CFAD73C-FDDE-04D2-DF10-8AD48E5B8D1B}"/>
              </a:ext>
            </a:extLst>
          </p:cNvPr>
          <p:cNvSpPr txBox="1"/>
          <p:nvPr/>
        </p:nvSpPr>
        <p:spPr>
          <a:xfrm>
            <a:off x="838791" y="1535813"/>
            <a:ext cx="842095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400" dirty="0"/>
              <a:t>IP adres bestaat uit twee delen:</a:t>
            </a:r>
          </a:p>
          <a:p>
            <a:pPr marL="457200" indent="-457200">
              <a:buAutoNum type="arabicParenR"/>
            </a:pPr>
            <a:r>
              <a:rPr lang="nl-NL" sz="2400" dirty="0"/>
              <a:t>Welk netwerk (bijv. postcode)</a:t>
            </a:r>
          </a:p>
          <a:p>
            <a:pPr marL="457200" indent="-457200">
              <a:buAutoNum type="arabicParenR"/>
            </a:pPr>
            <a:endParaRPr lang="nl-NL" sz="2400" dirty="0"/>
          </a:p>
          <a:p>
            <a:pPr marL="457200" indent="-457200">
              <a:buAutoNum type="arabicParenR"/>
            </a:pPr>
            <a:r>
              <a:rPr lang="nl-NL" sz="2400" dirty="0"/>
              <a:t>Welk apparaat binnen dat netwerk (bijv. huisnummer) </a:t>
            </a:r>
          </a:p>
        </p:txBody>
      </p:sp>
      <p:pic>
        <p:nvPicPr>
          <p:cNvPr id="3" name="Afbeelding 2" descr="Afbeeldingen Cartoon Huis PNG met Transparante Achtergrond ...">
            <a:extLst>
              <a:ext uri="{FF2B5EF4-FFF2-40B4-BE49-F238E27FC236}">
                <a16:creationId xmlns:a16="http://schemas.microsoft.com/office/drawing/2014/main" id="{B1EA64FD-F491-FD23-BC28-1BB541074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055" y="1534042"/>
            <a:ext cx="1943100" cy="1828800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3091A46D-6B4D-39C7-7C29-7B3742D9CBEB}"/>
              </a:ext>
            </a:extLst>
          </p:cNvPr>
          <p:cNvSpPr txBox="1"/>
          <p:nvPr/>
        </p:nvSpPr>
        <p:spPr>
          <a:xfrm>
            <a:off x="838200" y="3429000"/>
            <a:ext cx="853729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400" dirty="0" err="1"/>
              <a:t>Subnetmasker</a:t>
            </a:r>
            <a:r>
              <a:rPr lang="nl-NL" sz="2400" dirty="0"/>
              <a:t> bepaalt hoeveel bits elk deel</a:t>
            </a:r>
          </a:p>
          <a:p>
            <a:endParaRPr lang="nl-NL" sz="2400" dirty="0"/>
          </a:p>
          <a:p>
            <a:r>
              <a:rPr lang="nl-NL" sz="2400" dirty="0"/>
              <a:t>Masker: 255.255.255.0 =&gt; 3x stuk van 8 bits voor 1) =&gt;</a:t>
            </a:r>
          </a:p>
          <a:p>
            <a:r>
              <a:rPr lang="nl-NL" sz="2400" dirty="0"/>
              <a:t>24 bits voor 1) en 8 bits voor 2)</a:t>
            </a:r>
          </a:p>
          <a:p>
            <a:endParaRPr lang="nl-NL" sz="2400" dirty="0"/>
          </a:p>
          <a:p>
            <a:r>
              <a:rPr lang="nl-NL" sz="2400" dirty="0"/>
              <a:t>CIDR notatie masker: /24</a:t>
            </a:r>
          </a:p>
        </p:txBody>
      </p:sp>
    </p:spTree>
    <p:extLst>
      <p:ext uri="{BB962C8B-B14F-4D97-AF65-F5344CB8AC3E}">
        <p14:creationId xmlns:p14="http://schemas.microsoft.com/office/powerpoint/2010/main" val="310498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D3DE-11FC-9187-CA57-5C4F99A0F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189E39-FC5F-A452-EC62-C01D6D32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Cliffhanger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7D1D964-0B30-5C8E-85FD-1E4FAA1C6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657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/>
              <a:t>We weten nu dat elk netwerk is opgebouwd uit een IP-adres met apparaten daarop en we op die manier berichten kunnen sturen.</a:t>
            </a:r>
          </a:p>
          <a:p>
            <a:r>
              <a:rPr lang="nl-NL" dirty="0"/>
              <a:t>Hoe sturen we frames van het ene netwerk naar het andere netwerk?</a:t>
            </a:r>
          </a:p>
        </p:txBody>
      </p:sp>
      <p:pic>
        <p:nvPicPr>
          <p:cNvPr id="5" name="Afbeelding 4" descr="Understanding Wide Area Networks (WAN) in Modern Infrastructure">
            <a:extLst>
              <a:ext uri="{FF2B5EF4-FFF2-40B4-BE49-F238E27FC236}">
                <a16:creationId xmlns:a16="http://schemas.microsoft.com/office/drawing/2014/main" id="{BDB090C8-A566-8A8D-012F-BC79A702E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764" y="3993056"/>
            <a:ext cx="4990083" cy="219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339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A23950-A333-8F1D-3434-687DCA3E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IP-adressen binnen hetzelfde netwerk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2A443A6-7CA5-7D8B-3598-BBF8C5FCB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/>
              <a:t>Is het netwerk deel van het IP-adres hetzelfde </a:t>
            </a:r>
            <a:br>
              <a:rPr lang="nl-NL" dirty="0"/>
            </a:br>
            <a:r>
              <a:rPr lang="nl-NL" dirty="0"/>
              <a:t>=&gt; Via MAC-adres en ARP frames sturen</a:t>
            </a:r>
          </a:p>
          <a:p>
            <a:endParaRPr lang="nl-NL" dirty="0"/>
          </a:p>
          <a:p>
            <a:r>
              <a:rPr lang="nl-NL" dirty="0"/>
              <a:t>Is het netwerk deel van het IP-adres verschillend</a:t>
            </a:r>
            <a:br>
              <a:rPr lang="nl-NL" dirty="0"/>
            </a:br>
            <a:r>
              <a:rPr lang="nl-NL" dirty="0"/>
              <a:t>=&gt; De bestemming is niet binnen het eigen </a:t>
            </a:r>
            <a:r>
              <a:rPr lang="nl-NL" dirty="0" err="1"/>
              <a:t>subnet</a:t>
            </a:r>
          </a:p>
        </p:txBody>
      </p:sp>
    </p:spTree>
    <p:extLst>
      <p:ext uri="{BB962C8B-B14F-4D97-AF65-F5344CB8AC3E}">
        <p14:creationId xmlns:p14="http://schemas.microsoft.com/office/powerpoint/2010/main" val="374217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FB4627-BEA6-9150-E342-07DB67B29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Router</a:t>
            </a:r>
          </a:p>
        </p:txBody>
      </p:sp>
      <p:pic>
        <p:nvPicPr>
          <p:cNvPr id="4" name="Tijdelijke aanduiding voor inhoud 3" descr="TL-WR940N | 450 Mbps Draadloze N Router | TP-Link Nederland">
            <a:extLst>
              <a:ext uri="{FF2B5EF4-FFF2-40B4-BE49-F238E27FC236}">
                <a16:creationId xmlns:a16="http://schemas.microsoft.com/office/drawing/2014/main" id="{44D650E5-E327-9FA6-CB8D-5AFD1A53AA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46600" y="207515"/>
            <a:ext cx="2266176" cy="2266176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EDACF72A-AB8D-0A61-6714-EF6C56DC42BE}"/>
              </a:ext>
            </a:extLst>
          </p:cNvPr>
          <p:cNvSpPr txBox="1"/>
          <p:nvPr/>
        </p:nvSpPr>
        <p:spPr>
          <a:xfrm>
            <a:off x="838791" y="1683487"/>
            <a:ext cx="5576185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nl-NL" sz="2400" dirty="0"/>
              <a:t>Verbindt verschillende LAN met elkaar</a:t>
            </a:r>
          </a:p>
          <a:p>
            <a:pPr marL="342900" indent="-342900">
              <a:buFont typeface="Arial"/>
              <a:buChar char="•"/>
            </a:pPr>
            <a:endParaRPr lang="nl-NL" sz="2400" dirty="0"/>
          </a:p>
          <a:p>
            <a:pPr marL="342900" indent="-342900">
              <a:buFont typeface="Arial"/>
              <a:buChar char="•"/>
            </a:pPr>
            <a:r>
              <a:rPr lang="nl-NL" sz="2400" dirty="0"/>
              <a:t>Heeft 1 IP adres voor de buitenwereld. Via dit IP adres kunnen ze jouw </a:t>
            </a:r>
            <a:r>
              <a:rPr lang="nl-NL" sz="2400" dirty="0" err="1"/>
              <a:t>subnet</a:t>
            </a:r>
            <a:r>
              <a:rPr lang="nl-NL" sz="2400" dirty="0"/>
              <a:t> bereiken. =&gt; Provider wijst toe</a:t>
            </a:r>
          </a:p>
          <a:p>
            <a:pPr marL="342900" indent="-342900">
              <a:buFont typeface="Arial"/>
              <a:buChar char="•"/>
            </a:pPr>
            <a:endParaRPr lang="nl-NL" sz="2400" dirty="0"/>
          </a:p>
          <a:p>
            <a:pPr marL="342900" indent="-342900">
              <a:buFont typeface="Arial"/>
              <a:buChar char="•"/>
            </a:pPr>
            <a:r>
              <a:rPr lang="nl-NL" sz="2400" dirty="0"/>
              <a:t>Heeft nog een 1 IP </a:t>
            </a:r>
            <a:r>
              <a:rPr lang="nl-NL" sz="2400" dirty="0" err="1"/>
              <a:t>adress</a:t>
            </a:r>
            <a:r>
              <a:rPr lang="nl-NL" sz="2400" dirty="0"/>
              <a:t> per LAN dat hij </a:t>
            </a:r>
            <a:r>
              <a:rPr lang="nl-NL" sz="2400" dirty="0" err="1"/>
              <a:t>aanstruurt</a:t>
            </a:r>
            <a:r>
              <a:rPr lang="nl-NL" sz="2400" dirty="0"/>
              <a:t>. =&gt; Router wijst toe</a:t>
            </a:r>
          </a:p>
        </p:txBody>
      </p:sp>
      <p:pic>
        <p:nvPicPr>
          <p:cNvPr id="6" name="Afbeelding 5" descr="What is LAN? What is WAN? And What is NAT?">
            <a:extLst>
              <a:ext uri="{FF2B5EF4-FFF2-40B4-BE49-F238E27FC236}">
                <a16:creationId xmlns:a16="http://schemas.microsoft.com/office/drawing/2014/main" id="{560B5294-CCCB-482F-FAC5-F1CC8012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463" y="2624415"/>
            <a:ext cx="4235481" cy="423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92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D74230-41A7-4ABB-A153-A0A792517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Frame naar een ander netwerk sturen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3C3E8B7-0CC2-1E72-3EDF-10D5B6A6E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319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arenR"/>
            </a:pPr>
            <a:r>
              <a:rPr lang="nl-NL" dirty="0"/>
              <a:t>A wilt B sturen in een ander netwerk, dus bouwt een frame op.</a:t>
            </a:r>
            <a:br>
              <a:rPr lang="nl-NL" dirty="0"/>
            </a:br>
            <a:r>
              <a:rPr lang="nl-NL" dirty="0"/>
              <a:t>Frame: Bron MAC + IP, tekst, Doel MAC + IP</a:t>
            </a:r>
            <a:endParaRPr lang="nl-NL"/>
          </a:p>
          <a:p>
            <a:pPr>
              <a:buAutoNum type="arabicParenR"/>
            </a:pPr>
            <a:endParaRPr lang="nl-NL" dirty="0"/>
          </a:p>
          <a:p>
            <a:pPr marL="0" indent="0">
              <a:buNone/>
            </a:pPr>
            <a:r>
              <a:rPr lang="nl-NL" dirty="0"/>
              <a:t>Probleem: Kent het doel MAC niet =&gt; IP op ander netwerk dus ARP kan niet.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CD64C4B7-4892-2629-30CE-F9A9F9ECF30D}"/>
              </a:ext>
            </a:extLst>
          </p:cNvPr>
          <p:cNvSpPr txBox="1">
            <a:spLocks/>
          </p:cNvSpPr>
          <p:nvPr/>
        </p:nvSpPr>
        <p:spPr>
          <a:xfrm>
            <a:off x="837019" y="4358536"/>
            <a:ext cx="10515600" cy="13624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Oplossing: Elk IP-adres heeft een default gateway. Een router naar waar alles wordt gestuurd wat niet in eigen </a:t>
            </a:r>
            <a:r>
              <a:rPr lang="nl-NL" dirty="0" err="1"/>
              <a:t>subnet</a:t>
            </a:r>
            <a:r>
              <a:rPr lang="nl-NL" dirty="0"/>
              <a:t> ligt. Voeg MAC adres van je default gateway router toe in plaats van echt doel.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743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58B6-080E-3932-CD86-EDB6ABDB8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B74673-9272-8746-DB17-FB4E3FF94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Frame naar een ander netwerk sturen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F3B00C9-9862-F706-75C5-A7E363B28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176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nl-NL" dirty="0"/>
              <a:t>2)  Frame komt aan bij router. Router herkent eigen MAC-adres,       maar niet zijn IP-adres</a:t>
            </a:r>
          </a:p>
          <a:p>
            <a:pPr>
              <a:buAutoNum type="arabicParenR"/>
            </a:pPr>
            <a:endParaRPr lang="nl-NL" dirty="0"/>
          </a:p>
          <a:p>
            <a:pPr marL="0" indent="0">
              <a:buNone/>
            </a:pPr>
            <a:r>
              <a:rPr lang="nl-NL" dirty="0"/>
              <a:t>Probleem: Kent het doel MAC ook niet.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CD661F22-7A01-5DD8-4914-3D1E49A81D75}"/>
              </a:ext>
            </a:extLst>
          </p:cNvPr>
          <p:cNvSpPr txBox="1">
            <a:spLocks/>
          </p:cNvSpPr>
          <p:nvPr/>
        </p:nvSpPr>
        <p:spPr>
          <a:xfrm>
            <a:off x="837019" y="4116350"/>
            <a:ext cx="10515600" cy="2272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dirty="0"/>
              <a:t>Oplossing: Stuurt het weer naar zijn default gateway toe. Hou het echte doel IP-adres, maar vervang MAC met MAC van default gateway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725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E00B1-AFA6-217C-F104-5EAE24B9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9EF1CF-4B0B-3527-1DA7-932FF36FD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Frame naar een ander netwerk sturen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8AA64AA-4240-CDDD-1D00-C13699831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176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nl-NL" dirty="0"/>
              <a:t>2)  Frame komt aan bij router. Router herkent eigen MAC-adres,       maar niet zijn IP-adres</a:t>
            </a:r>
          </a:p>
          <a:p>
            <a:pPr>
              <a:buAutoNum type="arabicParenR"/>
            </a:pPr>
            <a:endParaRPr lang="nl-NL" dirty="0"/>
          </a:p>
          <a:p>
            <a:pPr marL="0" indent="0">
              <a:buNone/>
            </a:pPr>
            <a:r>
              <a:rPr lang="nl-NL" dirty="0"/>
              <a:t>Probleem: Kent het doel MAC ook niet.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677D432D-4A48-EF60-0003-21CE61197C87}"/>
              </a:ext>
            </a:extLst>
          </p:cNvPr>
          <p:cNvSpPr txBox="1">
            <a:spLocks/>
          </p:cNvSpPr>
          <p:nvPr/>
        </p:nvSpPr>
        <p:spPr>
          <a:xfrm>
            <a:off x="837019" y="4116350"/>
            <a:ext cx="10515600" cy="2272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dirty="0"/>
              <a:t>Oplossing: Stuurt het weer naar zijn default gateway toe. Hou het echte doel IP-adres, maar vervang MAC met MAC van default gateway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243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C846-1D02-C630-C643-D5F584D2F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D2B2E9-84BF-43F8-2F10-50D4335E3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Frame naar een ander netwerk sturen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55C5E44-C43C-CF0E-48E4-BCD2697DB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176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nl-NL" dirty="0"/>
              <a:t>2)  Frame komt aan bij router. Router herkent eigen MAC-adres,       maar niet zijn IP-adres</a:t>
            </a:r>
          </a:p>
          <a:p>
            <a:pPr>
              <a:buAutoNum type="arabicParenR"/>
            </a:pPr>
            <a:endParaRPr lang="nl-NL" dirty="0"/>
          </a:p>
          <a:p>
            <a:pPr marL="0" indent="0">
              <a:buNone/>
            </a:pPr>
            <a:r>
              <a:rPr lang="nl-NL" dirty="0"/>
              <a:t>Probleem: Kent het doel MAC ook niet.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19B34630-3166-D5FE-7223-AEA699820033}"/>
              </a:ext>
            </a:extLst>
          </p:cNvPr>
          <p:cNvSpPr txBox="1">
            <a:spLocks/>
          </p:cNvSpPr>
          <p:nvPr/>
        </p:nvSpPr>
        <p:spPr>
          <a:xfrm>
            <a:off x="838200" y="4193405"/>
            <a:ext cx="10515600" cy="2272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dirty="0"/>
              <a:t>Oplossing: Stuurt het weer naar zijn default gateway toe. Hou het echte doel IP-adres, maar vervang MAC met MAC van default gateway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586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D095C-D10A-983D-ECAC-BC1996D2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FB9AD4-CBEA-1D7C-2D03-53812F420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Hoe stoppen we deze herhaling</a:t>
            </a:r>
          </a:p>
        </p:txBody>
      </p:sp>
      <p:pic>
        <p:nvPicPr>
          <p:cNvPr id="4" name="Tijdelijke aanduiding voor inhoud 3" descr="Herhaling png | PNGEgg">
            <a:extLst>
              <a:ext uri="{FF2B5EF4-FFF2-40B4-BE49-F238E27FC236}">
                <a16:creationId xmlns:a16="http://schemas.microsoft.com/office/drawing/2014/main" id="{15163DC5-B521-C5CA-9801-694DCFD5B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0124" y="2344028"/>
            <a:ext cx="2168747" cy="2168747"/>
          </a:xfrm>
          <a:prstGeom prst="rect">
            <a:avLst/>
          </a:prstGeom>
        </p:spPr>
      </p:pic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3AD25450-9D5A-FA2B-3513-491F6DDCA0F6}"/>
              </a:ext>
            </a:extLst>
          </p:cNvPr>
          <p:cNvSpPr txBox="1">
            <a:spLocks/>
          </p:cNvSpPr>
          <p:nvPr/>
        </p:nvSpPr>
        <p:spPr>
          <a:xfrm>
            <a:off x="838200" y="1577532"/>
            <a:ext cx="8436345" cy="11143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Als iedereen alles naar default gateway blijft sturen dan blijven we oneindig bezig</a:t>
            </a:r>
          </a:p>
        </p:txBody>
      </p: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663932A6-2594-EF78-1D16-82D099F1D962}"/>
              </a:ext>
            </a:extLst>
          </p:cNvPr>
          <p:cNvSpPr txBox="1">
            <a:spLocks/>
          </p:cNvSpPr>
          <p:nvPr/>
        </p:nvSpPr>
        <p:spPr>
          <a:xfrm>
            <a:off x="838200" y="2605344"/>
            <a:ext cx="8436345" cy="190585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Router thuis stuurt het eigenlijk altijd door naar je provider. Die kent ook niet elk IP-adres, maar weet wel welke adressen welke naar welke richting moeten.</a:t>
            </a:r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6D18A24B-7C82-26A2-6AAE-8765DDBCADD5}"/>
              </a:ext>
            </a:extLst>
          </p:cNvPr>
          <p:cNvSpPr txBox="1">
            <a:spLocks/>
          </p:cNvSpPr>
          <p:nvPr/>
        </p:nvSpPr>
        <p:spPr>
          <a:xfrm>
            <a:off x="838199" y="4282927"/>
            <a:ext cx="8436345" cy="15159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Hoe meer je in de buurt komt, hoe specifieker ze je kunnen wijzen waar het doel IP-adres is. Binnen 10 tot 30 sprongen sta je over heel de wereld.</a:t>
            </a:r>
          </a:p>
        </p:txBody>
      </p:sp>
    </p:spTree>
    <p:extLst>
      <p:ext uri="{BB962C8B-B14F-4D97-AF65-F5344CB8AC3E}">
        <p14:creationId xmlns:p14="http://schemas.microsoft.com/office/powerpoint/2010/main" val="179125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85E33-F6F2-F5C7-E868-27631611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487969-BC22-23CA-16D8-EDBD85B6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Routeringstabel</a:t>
            </a:r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F0E502E5-1B25-612B-A201-159BB7D5334E}"/>
              </a:ext>
            </a:extLst>
          </p:cNvPr>
          <p:cNvSpPr txBox="1">
            <a:spLocks/>
          </p:cNvSpPr>
          <p:nvPr/>
        </p:nvSpPr>
        <p:spPr>
          <a:xfrm>
            <a:off x="838199" y="1577532"/>
            <a:ext cx="11070856" cy="18349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Tabel voor welk IP adres naar waar:</a:t>
            </a:r>
          </a:p>
          <a:p>
            <a:pPr marL="971550" lvl="1" indent="-514350">
              <a:buFont typeface="Courier New" panose="020B0604020202020204" pitchFamily="34" charset="0"/>
              <a:buChar char="o"/>
            </a:pPr>
            <a:r>
              <a:rPr lang="nl-NL" dirty="0"/>
              <a:t>Lijn 1 en 2 gaat over IP adressen die direct verbonden zijn (LAN)</a:t>
            </a:r>
          </a:p>
          <a:p>
            <a:pPr marL="971550" lvl="1" indent="-514350">
              <a:buFont typeface="Courier New" panose="020B0604020202020204" pitchFamily="34" charset="0"/>
              <a:buChar char="o"/>
            </a:pPr>
            <a:r>
              <a:rPr lang="nl-NL" dirty="0"/>
              <a:t>Lijn 3 is een IP adres van een router die verbonden is aan de onze (WAN)</a:t>
            </a:r>
          </a:p>
          <a:p>
            <a:pPr marL="971550" lvl="1" indent="-514350">
              <a:buFont typeface="Courier New" panose="020B0604020202020204" pitchFamily="34" charset="0"/>
              <a:buChar char="o"/>
            </a:pPr>
            <a:r>
              <a:rPr lang="nl-NL" dirty="0"/>
              <a:t>Lijn 4 is de default voor als we het niet weten 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AC9940A-DB06-D0A2-26AD-A92A8E96B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4425"/>
            <a:ext cx="12192000" cy="352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945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5EF7E-3E39-148B-7945-CD336A76A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785D99-3DB0-C0F0-670A-998B24A4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Analogie: Routering</a:t>
            </a:r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908005CA-7B10-751B-1F25-8D22CE85F0F5}"/>
              </a:ext>
            </a:extLst>
          </p:cNvPr>
          <p:cNvSpPr txBox="1">
            <a:spLocks/>
          </p:cNvSpPr>
          <p:nvPr/>
        </p:nvSpPr>
        <p:spPr>
          <a:xfrm>
            <a:off x="838200" y="1577532"/>
            <a:ext cx="8436345" cy="11143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Ik wil op reis naar: </a:t>
            </a:r>
            <a:r>
              <a:rPr lang="nl-NL" dirty="0" err="1">
                <a:ea typeface="+mn-lt"/>
                <a:cs typeface="+mn-lt"/>
              </a:rPr>
              <a:t>Segerstraße</a:t>
            </a:r>
            <a:r>
              <a:rPr lang="nl-NL" dirty="0">
                <a:ea typeface="+mn-lt"/>
                <a:cs typeface="+mn-lt"/>
              </a:rPr>
              <a:t> 1, 04318 Leipzig-</a:t>
            </a:r>
            <a:r>
              <a:rPr lang="nl-NL" dirty="0" err="1">
                <a:ea typeface="+mn-lt"/>
                <a:cs typeface="+mn-lt"/>
              </a:rPr>
              <a:t>Ost</a:t>
            </a:r>
            <a:r>
              <a:rPr lang="nl-NL" dirty="0">
                <a:ea typeface="+mn-lt"/>
                <a:cs typeface="+mn-lt"/>
              </a:rPr>
              <a:t>, Duitsland. Hoe geraak ik daar?</a:t>
            </a:r>
            <a:endParaRPr lang="nl-NL" dirty="0"/>
          </a:p>
        </p:txBody>
      </p: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EA16CF10-C454-B66D-71B8-DD419CA10D2A}"/>
              </a:ext>
            </a:extLst>
          </p:cNvPr>
          <p:cNvSpPr txBox="1">
            <a:spLocks/>
          </p:cNvSpPr>
          <p:nvPr/>
        </p:nvSpPr>
        <p:spPr>
          <a:xfrm>
            <a:off x="838200" y="2605344"/>
            <a:ext cx="8436345" cy="547246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400" dirty="0"/>
              <a:t>Rotterdam: Ik ken Duitsland, dat is naar het Oosten</a:t>
            </a:r>
          </a:p>
        </p:txBody>
      </p:sp>
      <p:pic>
        <p:nvPicPr>
          <p:cNvPr id="7" name="Tijdelijke aanduiding voor inhoud 6" descr="tekenfilm beer reiziger met rugzak en kaart hiking, wandelen vol vertrouwen buitenshuis klaar voor camping avontuur reis. 59282259 Vectorkunst bij Vecteezy">
            <a:extLst>
              <a:ext uri="{FF2B5EF4-FFF2-40B4-BE49-F238E27FC236}">
                <a16:creationId xmlns:a16="http://schemas.microsoft.com/office/drawing/2014/main" id="{E4DA2ABC-B5A4-F25B-C864-D597FF912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81116" y="28409"/>
            <a:ext cx="3102049" cy="3102049"/>
          </a:xfrm>
          <a:prstGeom prst="rect">
            <a:avLst/>
          </a:prstGeom>
        </p:spPr>
      </p:pic>
      <p:sp>
        <p:nvSpPr>
          <p:cNvPr id="15" name="Tijdelijke aanduiding voor inhoud 2">
            <a:extLst>
              <a:ext uri="{FF2B5EF4-FFF2-40B4-BE49-F238E27FC236}">
                <a16:creationId xmlns:a16="http://schemas.microsoft.com/office/drawing/2014/main" id="{7F79EA47-6805-6076-A8D3-D23CB3B45398}"/>
              </a:ext>
            </a:extLst>
          </p:cNvPr>
          <p:cNvSpPr txBox="1">
            <a:spLocks/>
          </p:cNvSpPr>
          <p:nvPr/>
        </p:nvSpPr>
        <p:spPr>
          <a:xfrm>
            <a:off x="837019" y="3127819"/>
            <a:ext cx="10090296" cy="547246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400" dirty="0"/>
              <a:t>Duitsland: Ik ken Leipzig, dat is naar het Oosten ergens midden Duitsland</a:t>
            </a:r>
          </a:p>
        </p:txBody>
      </p:sp>
      <p:sp>
        <p:nvSpPr>
          <p:cNvPr id="17" name="Tijdelijke aanduiding voor inhoud 2">
            <a:extLst>
              <a:ext uri="{FF2B5EF4-FFF2-40B4-BE49-F238E27FC236}">
                <a16:creationId xmlns:a16="http://schemas.microsoft.com/office/drawing/2014/main" id="{ADD1FA79-AC58-A429-C4F3-0FC44DB7363B}"/>
              </a:ext>
            </a:extLst>
          </p:cNvPr>
          <p:cNvSpPr txBox="1">
            <a:spLocks/>
          </p:cNvSpPr>
          <p:nvPr/>
        </p:nvSpPr>
        <p:spPr>
          <a:xfrm>
            <a:off x="835838" y="3675355"/>
            <a:ext cx="10090296" cy="547246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400" dirty="0"/>
              <a:t>Leipzig: Ik ken Leipzig-</a:t>
            </a:r>
            <a:r>
              <a:rPr lang="nl-NL" sz="2400" dirty="0" err="1"/>
              <a:t>Ost</a:t>
            </a:r>
            <a:r>
              <a:rPr lang="nl-NL" sz="2400" dirty="0"/>
              <a:t>, dat is in het Oosten naast het Centrum</a:t>
            </a:r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8D23D994-080F-C0C0-17CB-30B86C525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56" y="4878760"/>
            <a:ext cx="2326476" cy="1990652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08DC8E4C-2CB4-9E7A-F47D-E0908A397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154" y="4867922"/>
            <a:ext cx="2312139" cy="1990078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1AF390A5-0890-500A-A739-C2678AEDF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235" y="4867922"/>
            <a:ext cx="3000056" cy="1990078"/>
          </a:xfrm>
          <a:prstGeom prst="rect">
            <a:avLst/>
          </a:prstGeom>
        </p:spPr>
      </p:pic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EBAF7A9A-DB28-FA9E-D060-6FCD3EB6E6EB}"/>
              </a:ext>
            </a:extLst>
          </p:cNvPr>
          <p:cNvSpPr txBox="1">
            <a:spLocks/>
          </p:cNvSpPr>
          <p:nvPr/>
        </p:nvSpPr>
        <p:spPr>
          <a:xfrm>
            <a:off x="835838" y="4225335"/>
            <a:ext cx="10090296" cy="547246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400" dirty="0"/>
              <a:t>Leipzig-</a:t>
            </a:r>
            <a:r>
              <a:rPr lang="nl-NL" sz="2400" dirty="0" err="1"/>
              <a:t>Ost</a:t>
            </a:r>
            <a:r>
              <a:rPr lang="nl-NL" sz="2400" dirty="0"/>
              <a:t>: Ik ken </a:t>
            </a:r>
            <a:r>
              <a:rPr lang="nl-NL" sz="2400" dirty="0" err="1">
                <a:ea typeface="+mn-lt"/>
                <a:cs typeface="+mn-lt"/>
              </a:rPr>
              <a:t>Segerstraße</a:t>
            </a:r>
            <a:r>
              <a:rPr lang="nl-NL" sz="2400" dirty="0">
                <a:ea typeface="+mn-lt"/>
                <a:cs typeface="+mn-lt"/>
              </a:rPr>
              <a:t> 1</a:t>
            </a:r>
            <a:r>
              <a:rPr lang="nl-NL" sz="2400" dirty="0"/>
              <a:t>, dat is links onder in </a:t>
            </a:r>
            <a:r>
              <a:rPr lang="nl-NL" sz="2400" dirty="0" err="1"/>
              <a:t>Ost</a:t>
            </a:r>
          </a:p>
        </p:txBody>
      </p: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E4B6FA97-0867-278C-E5B3-FD9E26E49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2773" y="4896883"/>
            <a:ext cx="2708874" cy="197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30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33294-2B47-E7EA-CACB-7C14C27CE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218C13-9629-DAE1-7F75-DE48A9F2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Hoe stoppen we deze herhaling</a:t>
            </a:r>
          </a:p>
        </p:txBody>
      </p:sp>
      <p:pic>
        <p:nvPicPr>
          <p:cNvPr id="4" name="Tijdelijke aanduiding voor inhoud 3" descr="Herhaling png | PNGEgg">
            <a:extLst>
              <a:ext uri="{FF2B5EF4-FFF2-40B4-BE49-F238E27FC236}">
                <a16:creationId xmlns:a16="http://schemas.microsoft.com/office/drawing/2014/main" id="{26E3C5BD-42A2-961C-400D-69968071A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0124" y="2344028"/>
            <a:ext cx="2168747" cy="2168747"/>
          </a:xfrm>
          <a:prstGeom prst="rect">
            <a:avLst/>
          </a:prstGeom>
        </p:spPr>
      </p:pic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6646FD35-AFC8-C652-4053-2EAB9ADF716D}"/>
              </a:ext>
            </a:extLst>
          </p:cNvPr>
          <p:cNvSpPr txBox="1">
            <a:spLocks/>
          </p:cNvSpPr>
          <p:nvPr/>
        </p:nvSpPr>
        <p:spPr>
          <a:xfrm>
            <a:off x="838200" y="1577532"/>
            <a:ext cx="8436345" cy="46466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Providers moeten dus gewoon weten welke richting iets uit moet, om bij een andere provider terecht te komen.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r>
              <a:rPr lang="nl-NL" dirty="0"/>
              <a:t>Die provider weet dan weer naar welke provincie het moet, enzovoort. Tot het aankomt bij een router die het doel IP adres wel kent. </a:t>
            </a:r>
            <a:br>
              <a:rPr lang="nl-NL" dirty="0"/>
            </a:br>
            <a:br>
              <a:rPr lang="nl-NL" dirty="0"/>
            </a:br>
            <a:r>
              <a:rPr lang="nl-NL" dirty="0"/>
              <a:t>Laatste router kent IP adres (= zijn netwerk) en kan met ARP het juiste MAC adres vinden en zo de frame sturen.</a:t>
            </a:r>
          </a:p>
        </p:txBody>
      </p:sp>
    </p:spTree>
    <p:extLst>
      <p:ext uri="{BB962C8B-B14F-4D97-AF65-F5344CB8AC3E}">
        <p14:creationId xmlns:p14="http://schemas.microsoft.com/office/powerpoint/2010/main" val="350873803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734</Words>
  <Application>Microsoft Macintosh PowerPoint</Application>
  <PresentationFormat>Breedbeeld</PresentationFormat>
  <Paragraphs>65</Paragraphs>
  <Slides>13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Kantoorthema</vt:lpstr>
      <vt:lpstr>Netwerklaag: Routering</vt:lpstr>
      <vt:lpstr>Delen van een IP-adres</vt:lpstr>
      <vt:lpstr>Cliffhanger</vt:lpstr>
      <vt:lpstr>IP-adressen binnen hetzelfde netwerk</vt:lpstr>
      <vt:lpstr>Router</vt:lpstr>
      <vt:lpstr>Frame naar een ander netwerk sturen</vt:lpstr>
      <vt:lpstr>Frame naar een ander netwerk sturen</vt:lpstr>
      <vt:lpstr>Frame naar een ander netwerk sturen</vt:lpstr>
      <vt:lpstr>Frame naar een ander netwerk sturen</vt:lpstr>
      <vt:lpstr>Hoe stoppen we deze herhaling</vt:lpstr>
      <vt:lpstr>Routeringstabel</vt:lpstr>
      <vt:lpstr>Analogie: Routering</vt:lpstr>
      <vt:lpstr>Hoe stoppen we deze herhaling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Segers, M.</cp:lastModifiedBy>
  <cp:revision>263</cp:revision>
  <dcterms:created xsi:type="dcterms:W3CDTF">2026-09-04T17:38:59Z</dcterms:created>
  <dcterms:modified xsi:type="dcterms:W3CDTF">2026-09-29T10:14:38Z</dcterms:modified>
</cp:coreProperties>
</file>