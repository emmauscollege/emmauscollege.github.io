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8" r:id="rId3"/>
    <p:sldId id="259" r:id="rId4"/>
    <p:sldId id="260" r:id="rId5"/>
    <p:sldId id="262" r:id="rId6"/>
    <p:sldId id="261" r:id="rId7"/>
    <p:sldId id="263" r:id="rId8"/>
  </p:sldIdLst>
  <p:sldSz cx="9144000" cy="5143500" type="screen16x9"/>
  <p:notesSz cx="6858000" cy="9144000"/>
  <p:embeddedFontLst>
    <p:embeddedFont>
      <p:font typeface="Lato" panose="020F0502020204030203" pitchFamily="34" charset="0"/>
      <p:regular r:id="rId10"/>
      <p:bold r:id="rId11"/>
      <p:italic r:id="rId12"/>
      <p:boldItalic r:id="rId13"/>
    </p:embeddedFont>
    <p:embeddedFont>
      <p:font typeface="Montserrat" pitchFamily="2" charset="77"/>
      <p:regular r:id="rId14"/>
      <p:bold r:id="rId15"/>
      <p:italic r:id="rId16"/>
      <p:boldItalic r:id="rId17"/>
    </p:embeddedFont>
    <p:embeddedFont>
      <p:font typeface="Roboto Mono" pitchFamily="49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AD9B3F-A775-794E-8D24-C3B6892F978D}" v="294" dt="2026-09-16T19:43:07.5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403"/>
  </p:normalViewPr>
  <p:slideViewPr>
    <p:cSldViewPr snapToGrid="0">
      <p:cViewPr varScale="1">
        <p:scale>
          <a:sx n="146" d="100"/>
          <a:sy n="146" d="100"/>
        </p:scale>
        <p:origin x="576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viewProps" Target="view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f4e0e3f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44" name="Google Shape;144;g37f4e0e3f6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dacc92840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58" name="Google Shape;158;g37dacc92840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dacc92840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65" name="Google Shape;165;g37dacc92840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AF1B34F9-FE61-2763-6AB6-E08C97EEB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dacc92840_0_46:notes">
            <a:extLst>
              <a:ext uri="{FF2B5EF4-FFF2-40B4-BE49-F238E27FC236}">
                <a16:creationId xmlns:a16="http://schemas.microsoft.com/office/drawing/2014/main" id="{EE98AA58-3299-6238-A5EF-E9FD9F9BF2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65" name="Google Shape;165;g37dacc92840_0_46:notes">
            <a:extLst>
              <a:ext uri="{FF2B5EF4-FFF2-40B4-BE49-F238E27FC236}">
                <a16:creationId xmlns:a16="http://schemas.microsoft.com/office/drawing/2014/main" id="{9D04ED8C-C54E-C044-1CE5-14D20A994A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047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2923A030-69A6-7025-B43B-BE87EA849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dacc92840_0_46:notes">
            <a:extLst>
              <a:ext uri="{FF2B5EF4-FFF2-40B4-BE49-F238E27FC236}">
                <a16:creationId xmlns:a16="http://schemas.microsoft.com/office/drawing/2014/main" id="{61B3C433-3FBF-E68C-2BBF-431D2E9497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65" name="Google Shape;165;g37dacc92840_0_46:notes">
            <a:extLst>
              <a:ext uri="{FF2B5EF4-FFF2-40B4-BE49-F238E27FC236}">
                <a16:creationId xmlns:a16="http://schemas.microsoft.com/office/drawing/2014/main" id="{5B69A9A7-93BC-3F2F-03E1-F3852D2F5D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730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>
          <a:extLst>
            <a:ext uri="{FF2B5EF4-FFF2-40B4-BE49-F238E27FC236}">
              <a16:creationId xmlns:a16="http://schemas.microsoft.com/office/drawing/2014/main" id="{E6C5A4DA-A41C-16EF-FC00-A31D16A0B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dacc92840_0_46:notes">
            <a:extLst>
              <a:ext uri="{FF2B5EF4-FFF2-40B4-BE49-F238E27FC236}">
                <a16:creationId xmlns:a16="http://schemas.microsoft.com/office/drawing/2014/main" id="{FB1D4F47-84E6-E102-46E7-C768AD98AD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  <p:sp>
        <p:nvSpPr>
          <p:cNvPr id="165" name="Google Shape;165;g37dacc92840_0_46:notes">
            <a:extLst>
              <a:ext uri="{FF2B5EF4-FFF2-40B4-BE49-F238E27FC236}">
                <a16:creationId xmlns:a16="http://schemas.microsoft.com/office/drawing/2014/main" id="{D87ACE21-806C-2DEF-8A01-72213A0FB9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7188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nl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Uitleg: CSS selectors en properties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150575" y="4555300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Mnr. Segers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Basis CSS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1380525" y="1372400"/>
            <a:ext cx="31914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Selector: Wijst naar bepaalde HTML code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Property: Geeft aan welke eigenschap je wilt veranderen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Value: De waarde die je de eigenschap wilt geven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5016625" y="1628350"/>
            <a:ext cx="3617700" cy="31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210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2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red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font-size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48</a:t>
            </a:r>
            <a:r>
              <a:rPr lang="nl" sz="2100">
                <a:solidFill>
                  <a:srgbClr val="F97583"/>
                </a:solidFill>
                <a:latin typeface="Roboto Mono"/>
                <a:ea typeface="Roboto Mono"/>
                <a:cs typeface="Roboto Mono"/>
                <a:sym typeface="Roboto Mono"/>
              </a:rPr>
              <a:t>px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text-align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210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center</a:t>
            </a: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210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2100">
              <a:solidFill>
                <a:srgbClr val="E1E4E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49" name="Google Shape;149;p15"/>
          <p:cNvCxnSpPr/>
          <p:nvPr/>
        </p:nvCxnSpPr>
        <p:spPr>
          <a:xfrm>
            <a:off x="4185250" y="1573400"/>
            <a:ext cx="785700" cy="21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0" name="Google Shape;150;p15"/>
          <p:cNvCxnSpPr/>
          <p:nvPr/>
        </p:nvCxnSpPr>
        <p:spPr>
          <a:xfrm rot="10800000" flipH="1">
            <a:off x="4074150" y="2212800"/>
            <a:ext cx="1052100" cy="167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15"/>
          <p:cNvCxnSpPr/>
          <p:nvPr/>
        </p:nvCxnSpPr>
        <p:spPr>
          <a:xfrm>
            <a:off x="4075625" y="2413900"/>
            <a:ext cx="950100" cy="73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2" name="Google Shape;152;p15"/>
          <p:cNvCxnSpPr/>
          <p:nvPr/>
        </p:nvCxnSpPr>
        <p:spPr>
          <a:xfrm>
            <a:off x="4093800" y="2669800"/>
            <a:ext cx="1005000" cy="173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15"/>
          <p:cNvCxnSpPr/>
          <p:nvPr/>
        </p:nvCxnSpPr>
        <p:spPr>
          <a:xfrm rot="10800000" flipH="1">
            <a:off x="4075625" y="2240375"/>
            <a:ext cx="3298200" cy="1416000"/>
          </a:xfrm>
          <a:prstGeom prst="bentConnector3">
            <a:avLst>
              <a:gd name="adj1" fmla="val 150685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5"/>
          <p:cNvCxnSpPr/>
          <p:nvPr/>
        </p:nvCxnSpPr>
        <p:spPr>
          <a:xfrm rot="10800000" flipH="1">
            <a:off x="4121300" y="2596775"/>
            <a:ext cx="3955800" cy="1059600"/>
          </a:xfrm>
          <a:prstGeom prst="bentConnector3">
            <a:avLst>
              <a:gd name="adj1" fmla="val 121941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15"/>
          <p:cNvCxnSpPr/>
          <p:nvPr/>
        </p:nvCxnSpPr>
        <p:spPr>
          <a:xfrm rot="10800000" flipH="1">
            <a:off x="4139575" y="2888975"/>
            <a:ext cx="4431000" cy="767400"/>
          </a:xfrm>
          <a:prstGeom prst="bentConnector3">
            <a:avLst>
              <a:gd name="adj1" fmla="val 105771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/>
              <a:t>Selectors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1015100" y="961275"/>
            <a:ext cx="4750500" cy="39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Tags: 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2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 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2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p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…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red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2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Classes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1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1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class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1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"intro"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nl" sz="11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1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p</a:t>
            </a:r>
            <a:r>
              <a:rPr lang="nl" sz="11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class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1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”intro”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…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.intro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red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IDs: 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1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1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id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1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"intro1"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nl" sz="11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1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p</a:t>
            </a:r>
            <a:r>
              <a:rPr lang="nl" sz="11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id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1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”intro2”</a:t>
            </a:r>
            <a:r>
              <a:rPr lang="nl" sz="11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, …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#intro1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red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2" name="Google Shape;162;p16"/>
          <p:cNvSpPr txBox="1"/>
          <p:nvPr/>
        </p:nvSpPr>
        <p:spPr>
          <a:xfrm>
            <a:off x="5663298" y="1208453"/>
            <a:ext cx="3262988" cy="2726593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Tags: Alle tags moeten deze stijl hebben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Classes: Al de elementen met deze class moeten deze stijl hebben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IDs: Eén enkel element op heel de pagina moet deze stijl hebben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○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Of er moet een interne link naar gemaakt worden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Combineren Selectors</a:t>
            </a:r>
            <a:endParaRPr dirty="0"/>
          </a:p>
        </p:txBody>
      </p:sp>
      <p:sp>
        <p:nvSpPr>
          <p:cNvPr id="168" name="Google Shape;168;p17"/>
          <p:cNvSpPr txBox="1"/>
          <p:nvPr/>
        </p:nvSpPr>
        <p:spPr>
          <a:xfrm>
            <a:off x="1206950" y="961275"/>
            <a:ext cx="4558800" cy="39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1015100" y="961275"/>
            <a:ext cx="5424703" cy="39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318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 panose="020B0604020202020204" pitchFamily="34" charset="0"/>
              <a:buChar char="•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Voor voorrang (als bijvoorbeeld twee stukken CSS de kleur willen aanpassen van hetzelfde stuk)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1) id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2) class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3) tag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31800" indent="-285750">
              <a:lnSpc>
                <a:spcPct val="150000"/>
              </a:lnSpc>
              <a:buClr>
                <a:schemeClr val="lt1"/>
              </a:buClr>
              <a:buSzPts val="1300"/>
              <a:buFont typeface="Arial" panose="020B0604020202020204" pitchFamily="34" charset="0"/>
              <a:buChar char="•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Twee klassen combineren: </a:t>
            </a:r>
            <a:r>
              <a:rPr lang="nl" sz="13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3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3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class</a:t>
            </a:r>
            <a:r>
              <a:rPr lang="nl" sz="13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3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”vet underlined"</a:t>
            </a:r>
            <a:r>
              <a:rPr lang="nl" sz="13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endParaRPr lang="nl"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31800" lvl="0" indent="-285750">
              <a:lnSpc>
                <a:spcPct val="150000"/>
              </a:lnSpc>
              <a:buClr>
                <a:schemeClr val="lt1"/>
              </a:buClr>
              <a:buSzPts val="1300"/>
              <a:buFont typeface="Arial" panose="020B0604020202020204" pitchFamily="34" charset="0"/>
              <a:buChar char="•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 .</a:t>
            </a:r>
            <a:r>
              <a:rPr lang="nl-NL" sz="1300" dirty="0" err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note</a:t>
            </a: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(tag + spatie + class): </a:t>
            </a:r>
          </a:p>
          <a:p>
            <a:pPr marL="146050" lvl="0">
              <a:lnSpc>
                <a:spcPct val="150000"/>
              </a:lnSpc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Toepasselijk op alle class </a:t>
            </a:r>
            <a:r>
              <a:rPr lang="nl-NL" sz="1300" dirty="0" err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note</a:t>
            </a: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elementen die tussen &lt;p&gt; &lt;/p&gt; staan. </a:t>
            </a:r>
          </a:p>
          <a:p>
            <a:pPr marL="146050" lvl="0">
              <a:lnSpc>
                <a:spcPct val="150000"/>
              </a:lnSpc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(Werkt ook met andere combinaties zoals tag + spatie + tag)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" name="Google Shape;161;p16">
            <a:extLst>
              <a:ext uri="{FF2B5EF4-FFF2-40B4-BE49-F238E27FC236}">
                <a16:creationId xmlns:a16="http://schemas.microsoft.com/office/drawing/2014/main" id="{C7B0F142-C560-0E61-BE82-64B5807AF94B}"/>
              </a:ext>
            </a:extLst>
          </p:cNvPr>
          <p:cNvSpPr txBox="1"/>
          <p:nvPr/>
        </p:nvSpPr>
        <p:spPr>
          <a:xfrm>
            <a:off x="6439803" y="317837"/>
            <a:ext cx="2813394" cy="2155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&lt;</a:t>
            </a:r>
            <a:r>
              <a:rPr lang="nl" sz="1200" dirty="0">
                <a:solidFill>
                  <a:srgbClr val="85E89D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" sz="12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 class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nl" sz="1200" dirty="0">
                <a:solidFill>
                  <a:srgbClr val="9ECBFF"/>
                </a:solidFill>
                <a:latin typeface="Roboto Mono"/>
                <a:ea typeface="Roboto Mono"/>
                <a:cs typeface="Roboto Mono"/>
                <a:sym typeface="Roboto Mono"/>
              </a:rPr>
              <a:t>"intro"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&gt;</a:t>
            </a:r>
            <a:endParaRPr lang="nl" sz="12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2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2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2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.intro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lang="nl"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red</a:t>
            </a: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lang="nl"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200" dirty="0">
              <a:solidFill>
                <a:srgbClr val="E1E4E8"/>
              </a:solidFill>
              <a:latin typeface="Roboto Mono"/>
              <a:ea typeface="Roboto Mono"/>
              <a:cs typeface="Lato"/>
              <a:sym typeface="Roboto Mono"/>
            </a:endParaRPr>
          </a:p>
          <a:p>
            <a:pPr marL="146050" lvl="0">
              <a:buClr>
                <a:schemeClr val="lt1"/>
              </a:buClr>
              <a:buSzPts val="1300"/>
            </a:pPr>
            <a:r>
              <a:rPr lang="nl-NL" sz="1200" dirty="0">
                <a:solidFill>
                  <a:srgbClr val="B392F0"/>
                </a:solidFill>
                <a:latin typeface="Roboto Mono"/>
                <a:ea typeface="Roboto Mono"/>
                <a:cs typeface="Roboto Mono"/>
                <a:sym typeface="Roboto Mono"/>
              </a:rPr>
              <a:t>h1</a:t>
            </a:r>
            <a:r>
              <a:rPr lang="nl-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lang="nl-NL"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146050" lvl="0">
              <a:buClr>
                <a:schemeClr val="lt1"/>
              </a:buClr>
              <a:buSzPts val="1300"/>
            </a:pPr>
            <a:r>
              <a:rPr lang="nl-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  color</a:t>
            </a:r>
            <a:r>
              <a:rPr lang="nl-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: </a:t>
            </a:r>
            <a:r>
              <a:rPr lang="nl-NL" sz="1200" dirty="0">
                <a:solidFill>
                  <a:srgbClr val="79B8FF"/>
                </a:solidFill>
                <a:latin typeface="Roboto Mono"/>
                <a:ea typeface="Roboto Mono"/>
                <a:cs typeface="Roboto Mono"/>
                <a:sym typeface="Roboto Mono"/>
              </a:rPr>
              <a:t>blue</a:t>
            </a:r>
            <a:r>
              <a:rPr lang="nl-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lang="nl-NL" sz="1200" dirty="0">
              <a:latin typeface="Roboto Mono"/>
              <a:ea typeface="Roboto Mono"/>
              <a:cs typeface="Roboto Mono"/>
              <a:sym typeface="Roboto Mono"/>
            </a:endParaRPr>
          </a:p>
          <a:p>
            <a:pPr marL="146050" lvl="0">
              <a:buClr>
                <a:schemeClr val="lt1"/>
              </a:buClr>
              <a:buSzPts val="1300"/>
            </a:pPr>
            <a:r>
              <a:rPr lang="nl-NL" sz="1200" dirty="0">
                <a:solidFill>
                  <a:srgbClr val="E1E4E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lang="nl-NL" sz="12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1B3C7C56-964B-0EA7-36F0-0CDBE195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9CF33CB7-1BBC-145D-B0A7-F0734FACB6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Kleuren in CSS</a:t>
            </a:r>
            <a:endParaRPr dirty="0"/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DBB38554-9A1A-46E7-1DDA-3023625D6F08}"/>
              </a:ext>
            </a:extLst>
          </p:cNvPr>
          <p:cNvSpPr txBox="1"/>
          <p:nvPr/>
        </p:nvSpPr>
        <p:spPr>
          <a:xfrm>
            <a:off x="1206950" y="961275"/>
            <a:ext cx="4558800" cy="39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114458D2-4A0F-0671-AB87-647A5A0A02CF}"/>
              </a:ext>
            </a:extLst>
          </p:cNvPr>
          <p:cNvSpPr txBox="1"/>
          <p:nvPr/>
        </p:nvSpPr>
        <p:spPr>
          <a:xfrm>
            <a:off x="1015100" y="961275"/>
            <a:ext cx="6888600" cy="39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Soorten kleuren in CSS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1) Voorgeprogrammeerd: blue, red, cyan, …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2) rgb(255,0,0): kleuren zelf mixen (rood, groen en blauw) met ieder een waarde 	tussen 0 en 255. 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3) rgba(255,0,0,0.5): zelfde als rgb maar a bepaald doorzichtigheid (0 =		onzichtbaar, 1 is volledig bedekt)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endParaRPr lang="nl"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318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 panose="020B0604020202020204" pitchFamily="34" charset="0"/>
              <a:buChar char="•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Oefening: Welke kleur is dit</a:t>
            </a:r>
          </a:p>
          <a:p>
            <a:pPr marL="146050" lvl="1">
              <a:lnSpc>
                <a:spcPct val="150000"/>
              </a:lnSpc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1) rgb(255, 0, 0)</a:t>
            </a:r>
          </a:p>
          <a:p>
            <a:pPr marL="146050" lvl="1">
              <a:lnSpc>
                <a:spcPct val="150000"/>
              </a:lnSpc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2) rgb(255, 255, 255)</a:t>
            </a:r>
          </a:p>
          <a:p>
            <a:pPr marL="146050" lvl="1">
              <a:lnSpc>
                <a:spcPct val="150000"/>
              </a:lnSpc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3) rgba(0,255,0,0)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		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2823229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4CA40328-DCA3-7B41-8CDD-B09D94B4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55B84B35-CF90-7A0A-0861-8F173A4758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Groottes in CSS</a:t>
            </a:r>
            <a:endParaRPr dirty="0"/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E9245326-04BB-303A-99C9-D7FE721E7EAF}"/>
              </a:ext>
            </a:extLst>
          </p:cNvPr>
          <p:cNvSpPr txBox="1"/>
          <p:nvPr/>
        </p:nvSpPr>
        <p:spPr>
          <a:xfrm>
            <a:off x="1206950" y="961275"/>
            <a:ext cx="3224373" cy="1062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B9BA53D1-6630-26F1-21F6-22FEA9A8C6B1}"/>
              </a:ext>
            </a:extLst>
          </p:cNvPr>
          <p:cNvSpPr txBox="1"/>
          <p:nvPr/>
        </p:nvSpPr>
        <p:spPr>
          <a:xfrm>
            <a:off x="1206950" y="1307849"/>
            <a:ext cx="3279081" cy="622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Wat valt je op aan deze drie websites?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026" name="Picture 2" descr="Responsive vs. Mobile-Friendly Websites: What's the Difference?">
            <a:extLst>
              <a:ext uri="{FF2B5EF4-FFF2-40B4-BE49-F238E27FC236}">
                <a16:creationId xmlns:a16="http://schemas.microsoft.com/office/drawing/2014/main" id="{789CDBDD-B244-B13F-2191-ABF022E287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41" t="7973" r="8257" b="12824"/>
          <a:stretch>
            <a:fillRect/>
          </a:stretch>
        </p:blipFill>
        <p:spPr bwMode="auto">
          <a:xfrm>
            <a:off x="5044822" y="1167173"/>
            <a:ext cx="3573978" cy="2328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69;p17">
            <a:extLst>
              <a:ext uri="{FF2B5EF4-FFF2-40B4-BE49-F238E27FC236}">
                <a16:creationId xmlns:a16="http://schemas.microsoft.com/office/drawing/2014/main" id="{468EFC85-49A0-BCF0-3AB6-B88C3D42F502}"/>
              </a:ext>
            </a:extLst>
          </p:cNvPr>
          <p:cNvSpPr txBox="1"/>
          <p:nvPr/>
        </p:nvSpPr>
        <p:spPr>
          <a:xfrm>
            <a:off x="797169" y="1712910"/>
            <a:ext cx="3983759" cy="9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Lijken sterk op elkaar, maar zijn net anders.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Geoptimaliseerd voor de grootte van het scherm 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" name="Google Shape;169;p17">
            <a:extLst>
              <a:ext uri="{FF2B5EF4-FFF2-40B4-BE49-F238E27FC236}">
                <a16:creationId xmlns:a16="http://schemas.microsoft.com/office/drawing/2014/main" id="{2B7D2AA0-9692-9EDD-A5D1-0CF1A940256E}"/>
              </a:ext>
            </a:extLst>
          </p:cNvPr>
          <p:cNvSpPr txBox="1"/>
          <p:nvPr/>
        </p:nvSpPr>
        <p:spPr>
          <a:xfrm>
            <a:off x="660400" y="2481500"/>
            <a:ext cx="3983759" cy="9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Standaard maat in Webdesign is Pixels: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 err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width</a:t>
            </a: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200px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Voorspelbaar, maar op elk scherm even groot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" name="Google Shape;169;p17">
            <a:extLst>
              <a:ext uri="{FF2B5EF4-FFF2-40B4-BE49-F238E27FC236}">
                <a16:creationId xmlns:a16="http://schemas.microsoft.com/office/drawing/2014/main" id="{FFC5B37A-4230-95E7-CEAE-21FAD5A6866C}"/>
              </a:ext>
            </a:extLst>
          </p:cNvPr>
          <p:cNvSpPr txBox="1"/>
          <p:nvPr/>
        </p:nvSpPr>
        <p:spPr>
          <a:xfrm>
            <a:off x="660399" y="3496159"/>
            <a:ext cx="4599355" cy="9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We kunnen ook werken met procent: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 err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width</a:t>
            </a: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20%</a:t>
            </a:r>
          </a:p>
          <a:p>
            <a:pPr marL="14605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Neemt 20% in van de breedte in van het </a:t>
            </a:r>
            <a:r>
              <a:rPr lang="nl-NL" sz="1300" dirty="0" err="1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parent</a:t>
            </a: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element</a:t>
            </a: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199324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>
          <a:extLst>
            <a:ext uri="{FF2B5EF4-FFF2-40B4-BE49-F238E27FC236}">
              <a16:creationId xmlns:a16="http://schemas.microsoft.com/office/drawing/2014/main" id="{454C4985-E14B-FD7B-C665-F9F83FF9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>
            <a:extLst>
              <a:ext uri="{FF2B5EF4-FFF2-40B4-BE49-F238E27FC236}">
                <a16:creationId xmlns:a16="http://schemas.microsoft.com/office/drawing/2014/main" id="{EEF7EC90-C23E-E18C-5B91-3DF0BC282C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" dirty="0"/>
              <a:t>Oefenening</a:t>
            </a:r>
            <a:endParaRPr dirty="0"/>
          </a:p>
        </p:txBody>
      </p:sp>
      <p:sp>
        <p:nvSpPr>
          <p:cNvPr id="168" name="Google Shape;168;p17">
            <a:extLst>
              <a:ext uri="{FF2B5EF4-FFF2-40B4-BE49-F238E27FC236}">
                <a16:creationId xmlns:a16="http://schemas.microsoft.com/office/drawing/2014/main" id="{266E3A2C-C1D9-35BE-0541-9EDF45311B64}"/>
              </a:ext>
            </a:extLst>
          </p:cNvPr>
          <p:cNvSpPr txBox="1"/>
          <p:nvPr/>
        </p:nvSpPr>
        <p:spPr>
          <a:xfrm>
            <a:off x="1206950" y="961275"/>
            <a:ext cx="3224373" cy="1062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>
            <a:extLst>
              <a:ext uri="{FF2B5EF4-FFF2-40B4-BE49-F238E27FC236}">
                <a16:creationId xmlns:a16="http://schemas.microsoft.com/office/drawing/2014/main" id="{2E6AC096-FA37-CF21-66E2-36221AD12E98}"/>
              </a:ext>
            </a:extLst>
          </p:cNvPr>
          <p:cNvSpPr txBox="1"/>
          <p:nvPr/>
        </p:nvSpPr>
        <p:spPr>
          <a:xfrm>
            <a:off x="1206949" y="1307849"/>
            <a:ext cx="6936681" cy="3522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Ga naar w3schools HTML online editor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Maak een website met 1x een titel, 2x een paragraaf (de inhoud maakt niet uit), 1x ongeordende lijst met 2 elementen en 1x geordende lijst met 2 elementen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Voeg styling toe zodat alle p tags een zwarte achtergrondkleur hebben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Voeg styling toe zodat zowel de titel en één paragraaf hun tekstkleur groen wordt.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Voeg styling toe zodat enkel de elementen van de geordende lijst een rode achtergrond krijgen die half doorzichtig is (doe dit zonder een klasse/ID te maken)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r>
              <a:rPr lang="nl-NL" sz="13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Maak de paragrafen zo lang zodat ze heel de breedte van het scherm innemen en zet daarna hun breedte op 50% van de totale breedte</a:t>
            </a: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endParaRPr lang="nl-NL"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48895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rabicParenR"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2734257237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566</Words>
  <Application>Microsoft Macintosh PowerPoint</Application>
  <PresentationFormat>Diavoorstelling (16:9)</PresentationFormat>
  <Paragraphs>91</Paragraphs>
  <Slides>7</Slides>
  <Notes>7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2" baseType="lpstr">
      <vt:lpstr>Arial</vt:lpstr>
      <vt:lpstr>Montserrat</vt:lpstr>
      <vt:lpstr>Lato</vt:lpstr>
      <vt:lpstr>Roboto Mono</vt:lpstr>
      <vt:lpstr>Focus</vt:lpstr>
      <vt:lpstr>Uitleg: CSS selectors en properties</vt:lpstr>
      <vt:lpstr>Basis CSS</vt:lpstr>
      <vt:lpstr>Selectors</vt:lpstr>
      <vt:lpstr>Combineren Selectors</vt:lpstr>
      <vt:lpstr>Kleuren in CSS</vt:lpstr>
      <vt:lpstr>Groottes in CSS</vt:lpstr>
      <vt:lpstr>Oefenening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Segers, M.</cp:lastModifiedBy>
  <cp:revision>2</cp:revision>
  <dcterms:modified xsi:type="dcterms:W3CDTF">2026-09-16T19:44:37Z</dcterms:modified>
</cp:coreProperties>
</file>